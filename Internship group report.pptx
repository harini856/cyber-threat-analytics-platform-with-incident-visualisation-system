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jpg" ContentType="image/jp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xmlns="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100" d="100"/>
          <a:sy n="100" d="100"/>
        </p:scale>
        <p:origin x="-296" y="80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22885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2913063" y="0"/>
            <a:ext cx="222885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FA5BB2F-EAC8-6D45-85B3-8E01EDD43700}" type="datetimeFigureOut">
              <a:rPr lang="en-US" smtClean="0"/>
              <a:t>8/12/2026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-17145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514350" y="4400550"/>
            <a:ext cx="41148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22885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2913063" y="8685213"/>
            <a:ext cx="222885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84F2CFA-C876-A04E-9927-94B93F2605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656084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1.jp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11" Type="http://schemas.openxmlformats.org/officeDocument/2006/relationships/image" Target="../media/image15.png"/><Relationship Id="rId5" Type="http://schemas.openxmlformats.org/officeDocument/2006/relationships/image" Target="../media/image11.png"/><Relationship Id="rId10" Type="http://schemas.openxmlformats.org/officeDocument/2006/relationships/image" Target="../media/image6.png"/><Relationship Id="rId4" Type="http://schemas.openxmlformats.org/officeDocument/2006/relationships/image" Target="../media/image10.png"/><Relationship Id="rId9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7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png"/><Relationship Id="rId5" Type="http://schemas.openxmlformats.org/officeDocument/2006/relationships/image" Target="../media/image16.png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3" Type="http://schemas.openxmlformats.org/officeDocument/2006/relationships/image" Target="../media/image1.jpg"/><Relationship Id="rId7" Type="http://schemas.openxmlformats.org/officeDocument/2006/relationships/image" Target="../media/image2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Relationship Id="rId9" Type="http://schemas.openxmlformats.org/officeDocument/2006/relationships/image" Target="../media/image22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image" Target="../media/image1.jpg"/><Relationship Id="rId7" Type="http://schemas.openxmlformats.org/officeDocument/2006/relationships/image" Target="../media/image2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2.png"/><Relationship Id="rId5" Type="http://schemas.openxmlformats.org/officeDocument/2006/relationships/image" Target="../media/image23.png"/><Relationship Id="rId4" Type="http://schemas.openxmlformats.org/officeDocument/2006/relationships/image" Target="../media/image11.png"/><Relationship Id="rId9" Type="http://schemas.openxmlformats.org/officeDocument/2006/relationships/image" Target="../media/image25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png"/><Relationship Id="rId13" Type="http://schemas.openxmlformats.org/officeDocument/2006/relationships/image" Target="../media/image14.png"/><Relationship Id="rId3" Type="http://schemas.openxmlformats.org/officeDocument/2006/relationships/image" Target="../media/image1.jpg"/><Relationship Id="rId7" Type="http://schemas.openxmlformats.org/officeDocument/2006/relationships/image" Target="../media/image8.png"/><Relationship Id="rId12" Type="http://schemas.openxmlformats.org/officeDocument/2006/relationships/image" Target="../media/image2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11" Type="http://schemas.openxmlformats.org/officeDocument/2006/relationships/image" Target="../media/image28.png"/><Relationship Id="rId5" Type="http://schemas.openxmlformats.org/officeDocument/2006/relationships/image" Target="../media/image12.png"/><Relationship Id="rId15" Type="http://schemas.openxmlformats.org/officeDocument/2006/relationships/image" Target="../media/image31.png"/><Relationship Id="rId10" Type="http://schemas.openxmlformats.org/officeDocument/2006/relationships/image" Target="../media/image27.png"/><Relationship Id="rId4" Type="http://schemas.openxmlformats.org/officeDocument/2006/relationships/image" Target="../media/image11.png"/><Relationship Id="rId9" Type="http://schemas.openxmlformats.org/officeDocument/2006/relationships/image" Target="../media/image16.png"/><Relationship Id="rId14" Type="http://schemas.openxmlformats.org/officeDocument/2006/relationships/image" Target="../media/image3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3.png"/><Relationship Id="rId4" Type="http://schemas.openxmlformats.org/officeDocument/2006/relationships/image" Target="../media/image3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5.png"/><Relationship Id="rId4" Type="http://schemas.openxmlformats.org/officeDocument/2006/relationships/image" Target="../media/image3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7.png"/><Relationship Id="rId4" Type="http://schemas.openxmlformats.org/officeDocument/2006/relationships/image" Target="../media/image36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9.png"/><Relationship Id="rId4" Type="http://schemas.openxmlformats.org/officeDocument/2006/relationships/image" Target="../media/image38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1.png"/><Relationship Id="rId4" Type="http://schemas.openxmlformats.org/officeDocument/2006/relationships/image" Target="../media/image40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1.jpg"/><Relationship Id="rId7" Type="http://schemas.openxmlformats.org/officeDocument/2006/relationships/image" Target="../media/image4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9.png"/><Relationship Id="rId5" Type="http://schemas.openxmlformats.org/officeDocument/2006/relationships/image" Target="../media/image15.png"/><Relationship Id="rId10" Type="http://schemas.openxmlformats.org/officeDocument/2006/relationships/image" Target="../media/image6.png"/><Relationship Id="rId4" Type="http://schemas.openxmlformats.org/officeDocument/2006/relationships/image" Target="../media/image42.jpg"/><Relationship Id="rId9" Type="http://schemas.openxmlformats.org/officeDocument/2006/relationships/image" Target="../media/image3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45.png"/><Relationship Id="rId3" Type="http://schemas.openxmlformats.org/officeDocument/2006/relationships/image" Target="../media/image1.jpg"/><Relationship Id="rId7" Type="http://schemas.openxmlformats.org/officeDocument/2006/relationships/image" Target="../media/image3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4.png"/><Relationship Id="rId5" Type="http://schemas.openxmlformats.org/officeDocument/2006/relationships/image" Target="../media/image15.png"/><Relationship Id="rId10" Type="http://schemas.openxmlformats.org/officeDocument/2006/relationships/image" Target="../media/image46.png"/><Relationship Id="rId4" Type="http://schemas.openxmlformats.org/officeDocument/2006/relationships/image" Target="../media/image43.jpg"/><Relationship Id="rId9" Type="http://schemas.openxmlformats.org/officeDocument/2006/relationships/image" Target="../media/image10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bg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704850" y="1170769"/>
            <a:ext cx="8261350" cy="3600196"/>
          </a:xfrm>
          <a:prstGeom prst="roundRect">
            <a:avLst>
              <a:gd name="adj" fmla="val 3582"/>
            </a:avLst>
          </a:prstGeom>
          <a:solidFill>
            <a:srgbClr val="FFFFFF">
              <a:alpha val="94000"/>
            </a:srgbClr>
          </a:solidFill>
          <a:ln/>
          <a:effectLst>
            <a:outerShdw blurRad="76200" dist="25400" dir="5400000" algn="bl" rotWithShape="0">
              <a:srgbClr val="000000">
                <a:alpha val="15000"/>
              </a:srgbClr>
            </a:outerShdw>
          </a:effectLst>
        </p:spPr>
      </p:sp>
      <p:sp>
        <p:nvSpPr>
          <p:cNvPr id="6" name="Text 2"/>
          <p:cNvSpPr/>
          <p:nvPr/>
        </p:nvSpPr>
        <p:spPr>
          <a:xfrm>
            <a:off x="914400" y="2542032"/>
            <a:ext cx="7315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endParaRPr lang="en-US" sz="2200" dirty="0"/>
          </a:p>
        </p:txBody>
      </p:sp>
      <p:sp>
        <p:nvSpPr>
          <p:cNvPr id="8" name="Text 4"/>
          <p:cNvSpPr/>
          <p:nvPr/>
        </p:nvSpPr>
        <p:spPr>
          <a:xfrm>
            <a:off x="914400" y="2260600"/>
            <a:ext cx="7315200" cy="2037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400" b="1" dirty="0" smtClean="0">
                <a:solidFill>
                  <a:srgbClr val="1C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:</a:t>
            </a:r>
            <a:r>
              <a:rPr lang="en-US" sz="1400" dirty="0" smtClean="0">
                <a:solidFill>
                  <a:srgbClr val="1C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dirty="0">
                <a:solidFill>
                  <a:srgbClr val="1C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400" b="1" dirty="0" smtClean="0">
              <a:solidFill>
                <a:srgbClr val="1C2B33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>
              <a:lnSpc>
                <a:spcPct val="130000"/>
              </a:lnSpc>
            </a:pPr>
            <a:r>
              <a:rPr lang="en-US" sz="1400" b="1" dirty="0" smtClean="0">
                <a:solidFill>
                  <a:srgbClr val="1C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Members:</a:t>
            </a:r>
            <a:r>
              <a:rPr lang="en-US" sz="1400" dirty="0">
                <a:solidFill>
                  <a:srgbClr val="1C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dirty="0" smtClean="0">
                <a:solidFill>
                  <a:srgbClr val="1C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dirty="0" err="1" smtClean="0">
                <a:solidFill>
                  <a:srgbClr val="1C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Akshay</a:t>
            </a:r>
            <a:r>
              <a:rPr lang="en-US" sz="1400" dirty="0" smtClean="0">
                <a:solidFill>
                  <a:srgbClr val="1C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dirty="0" err="1" smtClean="0">
                <a:solidFill>
                  <a:srgbClr val="1C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Jaiswal,Srinidhi,Darsh</a:t>
            </a:r>
            <a:r>
              <a:rPr lang="en-US" sz="1400" dirty="0" smtClean="0">
                <a:solidFill>
                  <a:srgbClr val="1C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dirty="0" err="1" smtClean="0">
                <a:solidFill>
                  <a:srgbClr val="1C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Dwivedi,Deepan</a:t>
            </a:r>
            <a:r>
              <a:rPr lang="en-US" sz="1400" dirty="0" smtClean="0">
                <a:solidFill>
                  <a:srgbClr val="1C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dirty="0" err="1" smtClean="0">
                <a:solidFill>
                  <a:srgbClr val="1C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S,Harini</a:t>
            </a:r>
            <a:r>
              <a:rPr lang="en-US" sz="1400" dirty="0" smtClean="0">
                <a:solidFill>
                  <a:srgbClr val="1C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dirty="0" err="1" smtClean="0">
                <a:solidFill>
                  <a:srgbClr val="1C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T,Hemanth</a:t>
            </a:r>
            <a:r>
              <a:rPr lang="en-US" sz="1400" dirty="0" smtClean="0">
                <a:solidFill>
                  <a:srgbClr val="1C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M</a:t>
            </a:r>
            <a:endParaRPr lang="en-US" sz="14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400" b="1" dirty="0" smtClean="0">
                <a:solidFill>
                  <a:srgbClr val="1C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Mentor</a:t>
            </a:r>
            <a:r>
              <a:rPr lang="en-US" sz="1400" b="1" dirty="0">
                <a:solidFill>
                  <a:srgbClr val="1C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</a:t>
            </a:r>
            <a:r>
              <a:rPr lang="en-US" sz="1400" dirty="0">
                <a:solidFill>
                  <a:srgbClr val="1C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Mrs. Nithayasri S </a:t>
            </a:r>
            <a:r>
              <a:rPr lang="en-US" sz="1400" dirty="0" smtClean="0">
                <a:solidFill>
                  <a:srgbClr val="1C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</a:t>
            </a:r>
          </a:p>
          <a:p>
            <a:pPr>
              <a:lnSpc>
                <a:spcPct val="130000"/>
              </a:lnSpc>
            </a:pPr>
            <a:r>
              <a:rPr lang="en-US" sz="1400" b="1" dirty="0" smtClean="0">
                <a:solidFill>
                  <a:srgbClr val="1C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Internship Duration: </a:t>
            </a:r>
            <a:r>
              <a:rPr lang="en-US" sz="1400" dirty="0" smtClean="0">
                <a:solidFill>
                  <a:srgbClr val="1C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weeks</a:t>
            </a:r>
          </a:p>
          <a:p>
            <a:pPr>
              <a:lnSpc>
                <a:spcPct val="130000"/>
              </a:lnSpc>
            </a:pPr>
            <a:r>
              <a:rPr lang="en-US" sz="1400" b="1" dirty="0" smtClean="0">
                <a:solidFill>
                  <a:srgbClr val="1C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Year: </a:t>
            </a:r>
            <a:r>
              <a:rPr lang="en-US" sz="1400" dirty="0" smtClean="0">
                <a:solidFill>
                  <a:srgbClr val="1C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</a:t>
            </a:r>
            <a:endParaRPr lang="en-US" sz="1400" dirty="0"/>
          </a:p>
          <a:p>
            <a:pPr>
              <a:lnSpc>
                <a:spcPct val="130000"/>
              </a:lnSpc>
            </a:pPr>
            <a:r>
              <a:rPr lang="en-US" sz="1400" b="1" dirty="0" smtClean="0">
                <a:solidFill>
                  <a:srgbClr val="1C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Title:</a:t>
            </a:r>
          </a:p>
          <a:p>
            <a:pPr>
              <a:lnSpc>
                <a:spcPct val="130000"/>
              </a:lnSpc>
            </a:pPr>
            <a:r>
              <a:rPr lang="en-US" sz="1400" b="1" dirty="0">
                <a:solidFill>
                  <a:srgbClr val="1C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b="1" dirty="0" smtClean="0">
                <a:solidFill>
                  <a:srgbClr val="1C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           “Advanced Threat Incident Analytics and Security </a:t>
            </a:r>
            <a:r>
              <a:rPr lang="en-US" sz="1400" b="1" dirty="0" err="1" smtClean="0">
                <a:solidFill>
                  <a:srgbClr val="1C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Visualisation</a:t>
            </a:r>
            <a:r>
              <a:rPr lang="en-US" sz="1400" b="1" dirty="0" smtClean="0">
                <a:solidFill>
                  <a:srgbClr val="1C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Framework”</a:t>
            </a:r>
            <a:endParaRPr lang="en-US" sz="1400" dirty="0"/>
          </a:p>
          <a:p>
            <a:pPr marL="0" indent="0">
              <a:lnSpc>
                <a:spcPct val="130000"/>
              </a:lnSpc>
              <a:buNone/>
            </a:pPr>
            <a:endParaRPr lang="en-US" sz="1400" dirty="0"/>
          </a:p>
        </p:txBody>
      </p:sp>
      <p:sp>
        <p:nvSpPr>
          <p:cNvPr id="9" name="Text 5"/>
          <p:cNvSpPr/>
          <p:nvPr/>
        </p:nvSpPr>
        <p:spPr>
          <a:xfrm>
            <a:off x="502920" y="4572000"/>
            <a:ext cx="8138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200" dirty="0"/>
          </a:p>
        </p:txBody>
      </p:sp>
      <p:sp>
        <p:nvSpPr>
          <p:cNvPr id="10" name="TextBox 9"/>
          <p:cNvSpPr txBox="1"/>
          <p:nvPr/>
        </p:nvSpPr>
        <p:spPr>
          <a:xfrm>
            <a:off x="1701800" y="1170769"/>
            <a:ext cx="627380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Infosys </a:t>
            </a:r>
            <a:r>
              <a:rPr lang="en-US" sz="2000" b="1" dirty="0" err="1" smtClean="0">
                <a:latin typeface="Times New Roman" pitchFamily="18" charset="0"/>
                <a:cs typeface="Times New Roman" pitchFamily="18" charset="0"/>
              </a:rPr>
              <a:t>SpringBoard</a:t>
            </a:r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 Virtual Internship 7.0</a:t>
            </a:r>
          </a:p>
          <a:p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    Internship Completion Report </a:t>
            </a:r>
          </a:p>
          <a:p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               Batch 1 Group 1</a:t>
            </a:r>
            <a:endParaRPr lang="en-IN" sz="2000" b="1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bg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02920" y="841248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0A3D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Objective</a:t>
            </a:r>
            <a:endParaRPr lang="en-US" sz="2800" dirty="0"/>
          </a:p>
        </p:txBody>
      </p:sp>
      <p:sp>
        <p:nvSpPr>
          <p:cNvPr id="4" name="Shape 1"/>
          <p:cNvSpPr/>
          <p:nvPr/>
        </p:nvSpPr>
        <p:spPr>
          <a:xfrm>
            <a:off x="502920" y="1536192"/>
            <a:ext cx="3913632" cy="1536192"/>
          </a:xfrm>
          <a:prstGeom prst="roundRect">
            <a:avLst>
              <a:gd name="adj" fmla="val 5357"/>
            </a:avLst>
          </a:prstGeom>
          <a:solidFill>
            <a:srgbClr val="F4F8FA"/>
          </a:solidFill>
          <a:ln/>
          <a:effectLst>
            <a:outerShdw blurRad="76200" dist="25400" dir="5400000" algn="bl" rotWithShape="0">
              <a:srgbClr val="000000">
                <a:alpha val="15000"/>
              </a:srgbClr>
            </a:outerShdw>
          </a:effectLst>
        </p:spPr>
      </p:sp>
      <p:sp>
        <p:nvSpPr>
          <p:cNvPr id="5" name="Shape 2"/>
          <p:cNvSpPr/>
          <p:nvPr/>
        </p:nvSpPr>
        <p:spPr>
          <a:xfrm>
            <a:off x="731520" y="1764792"/>
            <a:ext cx="566928" cy="566928"/>
          </a:xfrm>
          <a:prstGeom prst="ellipse">
            <a:avLst/>
          </a:prstGeom>
          <a:solidFill>
            <a:srgbClr val="0A3D62"/>
          </a:solidFill>
          <a:ln/>
          <a:effectLst>
            <a:outerShdw blurRad="63500" dist="25400" dir="5400000" algn="bl" rotWithShape="0">
              <a:srgbClr val="000000">
                <a:alpha val="18000"/>
              </a:srgbClr>
            </a:outerShdw>
          </a:effectLst>
        </p:spPr>
      </p:sp>
      <p:pic>
        <p:nvPicPr>
          <p:cNvPr id="6" name="Image 1" descr="icons/FaBullseye_FFFFF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8921" y="1912193"/>
            <a:ext cx="272125" cy="272125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463040" y="1719072"/>
            <a:ext cx="27249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A3D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Purpose of the Project</a:t>
            </a:r>
            <a:endParaRPr lang="en-US" sz="1400" dirty="0"/>
          </a:p>
        </p:txBody>
      </p:sp>
      <p:sp>
        <p:nvSpPr>
          <p:cNvPr id="8" name="Text 4"/>
          <p:cNvSpPr/>
          <p:nvPr/>
        </p:nvSpPr>
        <p:spPr>
          <a:xfrm>
            <a:off x="1463040" y="2103120"/>
            <a:ext cx="272491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C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Analyze real-world cyberattack data to detect patterns of malicious network activity.</a:t>
            </a:r>
            <a:endParaRPr lang="en-US" sz="1100" dirty="0"/>
          </a:p>
        </p:txBody>
      </p:sp>
      <p:sp>
        <p:nvSpPr>
          <p:cNvPr id="9" name="Shape 5"/>
          <p:cNvSpPr/>
          <p:nvPr/>
        </p:nvSpPr>
        <p:spPr>
          <a:xfrm>
            <a:off x="4727448" y="1536192"/>
            <a:ext cx="3913632" cy="1536192"/>
          </a:xfrm>
          <a:prstGeom prst="roundRect">
            <a:avLst>
              <a:gd name="adj" fmla="val 5357"/>
            </a:avLst>
          </a:prstGeom>
          <a:solidFill>
            <a:srgbClr val="F4F8FA"/>
          </a:solidFill>
          <a:ln/>
          <a:effectLst>
            <a:outerShdw blurRad="76200" dist="25400" dir="54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0" name="Shape 6"/>
          <p:cNvSpPr/>
          <p:nvPr/>
        </p:nvSpPr>
        <p:spPr>
          <a:xfrm>
            <a:off x="4956048" y="1764792"/>
            <a:ext cx="566928" cy="566928"/>
          </a:xfrm>
          <a:prstGeom prst="ellipse">
            <a:avLst/>
          </a:prstGeom>
          <a:solidFill>
            <a:srgbClr val="0A3D62"/>
          </a:solidFill>
          <a:ln/>
          <a:effectLst>
            <a:outerShdw blurRad="63500" dist="25400" dir="5400000" algn="bl" rotWithShape="0">
              <a:srgbClr val="000000">
                <a:alpha val="18000"/>
              </a:srgbClr>
            </a:outerShdw>
          </a:effectLst>
        </p:spPr>
      </p:sp>
      <p:pic>
        <p:nvPicPr>
          <p:cNvPr id="11" name="Image 2" descr="icons/FaChartLine_FFFFFF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03449" y="1912193"/>
            <a:ext cx="272125" cy="272125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5687568" y="1719072"/>
            <a:ext cx="27249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A3D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Threat Analytics Matters</a:t>
            </a:r>
            <a:endParaRPr lang="en-US" sz="1400" dirty="0"/>
          </a:p>
        </p:txBody>
      </p:sp>
      <p:sp>
        <p:nvSpPr>
          <p:cNvPr id="13" name="Text 8"/>
          <p:cNvSpPr/>
          <p:nvPr/>
        </p:nvSpPr>
        <p:spPr>
          <a:xfrm>
            <a:off x="5687568" y="2103120"/>
            <a:ext cx="272491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C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Enables early detection of intrusions and reduces response time to security incidents.</a:t>
            </a:r>
            <a:endParaRPr lang="en-US" sz="1100" dirty="0"/>
          </a:p>
        </p:txBody>
      </p:sp>
      <p:sp>
        <p:nvSpPr>
          <p:cNvPr id="14" name="Shape 9"/>
          <p:cNvSpPr/>
          <p:nvPr/>
        </p:nvSpPr>
        <p:spPr>
          <a:xfrm>
            <a:off x="502920" y="3346704"/>
            <a:ext cx="3913632" cy="1536192"/>
          </a:xfrm>
          <a:prstGeom prst="roundRect">
            <a:avLst>
              <a:gd name="adj" fmla="val 5357"/>
            </a:avLst>
          </a:prstGeom>
          <a:solidFill>
            <a:srgbClr val="F4F8FA"/>
          </a:solidFill>
          <a:ln/>
          <a:effectLst>
            <a:outerShdw blurRad="76200" dist="25400" dir="54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5" name="Shape 10"/>
          <p:cNvSpPr/>
          <p:nvPr/>
        </p:nvSpPr>
        <p:spPr>
          <a:xfrm>
            <a:off x="731520" y="3575304"/>
            <a:ext cx="566928" cy="566928"/>
          </a:xfrm>
          <a:prstGeom prst="ellipse">
            <a:avLst/>
          </a:prstGeom>
          <a:solidFill>
            <a:srgbClr val="0A3D62"/>
          </a:solidFill>
          <a:ln/>
          <a:effectLst>
            <a:outerShdw blurRad="63500" dist="25400" dir="5400000" algn="bl" rotWithShape="0">
              <a:srgbClr val="000000">
                <a:alpha val="18000"/>
              </a:srgbClr>
            </a:outerShdw>
          </a:effectLst>
        </p:spPr>
      </p:sp>
      <p:pic>
        <p:nvPicPr>
          <p:cNvPr id="16" name="Image 3" descr="icons/FaChartPie_FFFFFF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78921" y="3722705"/>
            <a:ext cx="272125" cy="272125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1463040" y="3529584"/>
            <a:ext cx="27249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A3D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Importance of Visualization</a:t>
            </a:r>
            <a:endParaRPr lang="en-US" sz="1400" dirty="0"/>
          </a:p>
        </p:txBody>
      </p:sp>
      <p:sp>
        <p:nvSpPr>
          <p:cNvPr id="18" name="Text 12"/>
          <p:cNvSpPr/>
          <p:nvPr/>
        </p:nvSpPr>
        <p:spPr>
          <a:xfrm>
            <a:off x="1463040" y="3913632"/>
            <a:ext cx="272491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C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Transforms raw security logs into clear, actionable dashboards for decision-makers.</a:t>
            </a:r>
            <a:endParaRPr lang="en-US" sz="1100" dirty="0"/>
          </a:p>
        </p:txBody>
      </p:sp>
      <p:sp>
        <p:nvSpPr>
          <p:cNvPr id="19" name="Shape 13"/>
          <p:cNvSpPr/>
          <p:nvPr/>
        </p:nvSpPr>
        <p:spPr>
          <a:xfrm>
            <a:off x="4727448" y="3346704"/>
            <a:ext cx="3913632" cy="1536192"/>
          </a:xfrm>
          <a:prstGeom prst="roundRect">
            <a:avLst>
              <a:gd name="adj" fmla="val 5357"/>
            </a:avLst>
          </a:prstGeom>
          <a:solidFill>
            <a:srgbClr val="F4F8FA"/>
          </a:solidFill>
          <a:ln/>
          <a:effectLst>
            <a:outerShdw blurRad="76200" dist="25400" dir="5400000" algn="bl" rotWithShape="0">
              <a:srgbClr val="000000">
                <a:alpha val="15000"/>
              </a:srgbClr>
            </a:outerShdw>
          </a:effectLst>
        </p:spPr>
      </p:sp>
      <p:sp>
        <p:nvSpPr>
          <p:cNvPr id="20" name="Shape 14"/>
          <p:cNvSpPr/>
          <p:nvPr/>
        </p:nvSpPr>
        <p:spPr>
          <a:xfrm>
            <a:off x="4956048" y="3575304"/>
            <a:ext cx="566928" cy="566928"/>
          </a:xfrm>
          <a:prstGeom prst="ellipse">
            <a:avLst/>
          </a:prstGeom>
          <a:solidFill>
            <a:srgbClr val="0A3D62"/>
          </a:solidFill>
          <a:ln/>
          <a:effectLst>
            <a:outerShdw blurRad="63500" dist="25400" dir="5400000" algn="bl" rotWithShape="0">
              <a:srgbClr val="000000">
                <a:alpha val="18000"/>
              </a:srgbClr>
            </a:outerShdw>
          </a:effectLst>
        </p:spPr>
      </p:sp>
      <p:pic>
        <p:nvPicPr>
          <p:cNvPr id="21" name="Image 4" descr="icons/FaCheckCircle_FFFFFF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103449" y="3722705"/>
            <a:ext cx="272125" cy="272125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5687568" y="3529584"/>
            <a:ext cx="27249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A3D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Outcome</a:t>
            </a:r>
            <a:endParaRPr lang="en-US" sz="1400" dirty="0"/>
          </a:p>
        </p:txBody>
      </p:sp>
      <p:sp>
        <p:nvSpPr>
          <p:cNvPr id="23" name="Text 16"/>
          <p:cNvSpPr/>
          <p:nvPr/>
        </p:nvSpPr>
        <p:spPr>
          <a:xfrm>
            <a:off x="5687568" y="3913632"/>
            <a:ext cx="272491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C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interactive Power BI dashboard revealing key threat trends and attack insights.</a:t>
            </a:r>
            <a:endParaRPr lang="en-US" sz="11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bg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02920" y="841248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0A3D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Introduction</a:t>
            </a:r>
            <a:endParaRPr lang="en-US" sz="2800" dirty="0"/>
          </a:p>
        </p:txBody>
      </p:sp>
      <p:sp>
        <p:nvSpPr>
          <p:cNvPr id="4" name="Shape 1"/>
          <p:cNvSpPr/>
          <p:nvPr/>
        </p:nvSpPr>
        <p:spPr>
          <a:xfrm>
            <a:off x="502920" y="1536192"/>
            <a:ext cx="3913632" cy="1536192"/>
          </a:xfrm>
          <a:prstGeom prst="roundRect">
            <a:avLst>
              <a:gd name="adj" fmla="val 5357"/>
            </a:avLst>
          </a:prstGeom>
          <a:solidFill>
            <a:srgbClr val="F4F8FA"/>
          </a:solidFill>
          <a:ln/>
          <a:effectLst>
            <a:outerShdw blurRad="76200" dist="25400" dir="5400000" algn="bl" rotWithShape="0">
              <a:srgbClr val="000000">
                <a:alpha val="15000"/>
              </a:srgbClr>
            </a:outerShdw>
          </a:effectLst>
        </p:spPr>
      </p:sp>
      <p:sp>
        <p:nvSpPr>
          <p:cNvPr id="5" name="Shape 2"/>
          <p:cNvSpPr/>
          <p:nvPr/>
        </p:nvSpPr>
        <p:spPr>
          <a:xfrm>
            <a:off x="731520" y="1764792"/>
            <a:ext cx="566928" cy="566928"/>
          </a:xfrm>
          <a:prstGeom prst="ellipse">
            <a:avLst/>
          </a:prstGeom>
          <a:solidFill>
            <a:srgbClr val="0A3D62"/>
          </a:solidFill>
          <a:ln/>
          <a:effectLst>
            <a:outerShdw blurRad="63500" dist="25400" dir="5400000" algn="bl" rotWithShape="0">
              <a:srgbClr val="000000">
                <a:alpha val="18000"/>
              </a:srgbClr>
            </a:outerShdw>
          </a:effectLst>
        </p:spPr>
      </p:sp>
      <p:pic>
        <p:nvPicPr>
          <p:cNvPr id="6" name="Image 1" descr="icons/FaShieldAlt_FFFFF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8921" y="1912193"/>
            <a:ext cx="272125" cy="272125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463040" y="1719072"/>
            <a:ext cx="27249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A3D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Cybersecurity Overview</a:t>
            </a:r>
            <a:endParaRPr lang="en-US" sz="1350" dirty="0"/>
          </a:p>
        </p:txBody>
      </p:sp>
      <p:sp>
        <p:nvSpPr>
          <p:cNvPr id="8" name="Text 4"/>
          <p:cNvSpPr/>
          <p:nvPr/>
        </p:nvSpPr>
        <p:spPr>
          <a:xfrm>
            <a:off x="1463040" y="2194560"/>
            <a:ext cx="272491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C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Protecting systems, networks and data from digital attacks and unauthorized access.</a:t>
            </a:r>
            <a:endParaRPr lang="en-US" sz="1100" dirty="0"/>
          </a:p>
        </p:txBody>
      </p:sp>
      <p:sp>
        <p:nvSpPr>
          <p:cNvPr id="9" name="Shape 5"/>
          <p:cNvSpPr/>
          <p:nvPr/>
        </p:nvSpPr>
        <p:spPr>
          <a:xfrm>
            <a:off x="4727448" y="1536192"/>
            <a:ext cx="3913632" cy="1536192"/>
          </a:xfrm>
          <a:prstGeom prst="roundRect">
            <a:avLst>
              <a:gd name="adj" fmla="val 5357"/>
            </a:avLst>
          </a:prstGeom>
          <a:solidFill>
            <a:srgbClr val="F4F8FA"/>
          </a:solidFill>
          <a:ln/>
          <a:effectLst>
            <a:outerShdw blurRad="76200" dist="25400" dir="54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0" name="Shape 6"/>
          <p:cNvSpPr/>
          <p:nvPr/>
        </p:nvSpPr>
        <p:spPr>
          <a:xfrm>
            <a:off x="4956048" y="1764792"/>
            <a:ext cx="566928" cy="566928"/>
          </a:xfrm>
          <a:prstGeom prst="ellipse">
            <a:avLst/>
          </a:prstGeom>
          <a:solidFill>
            <a:srgbClr val="0A3D62"/>
          </a:solidFill>
          <a:ln/>
          <a:effectLst>
            <a:outerShdw blurRad="63500" dist="25400" dir="5400000" algn="bl" rotWithShape="0">
              <a:srgbClr val="000000">
                <a:alpha val="18000"/>
              </a:srgbClr>
            </a:outerShdw>
          </a:effectLst>
        </p:spPr>
      </p:sp>
      <p:pic>
        <p:nvPicPr>
          <p:cNvPr id="11" name="Image 2" descr="icons/FaNetworkWired_FFFFFF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03449" y="1912193"/>
            <a:ext cx="272125" cy="272125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5687568" y="1719072"/>
            <a:ext cx="27249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A3D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Intrusion Detection</a:t>
            </a:r>
            <a:endParaRPr lang="en-US" sz="1350" dirty="0"/>
          </a:p>
        </p:txBody>
      </p:sp>
      <p:sp>
        <p:nvSpPr>
          <p:cNvPr id="13" name="Text 8"/>
          <p:cNvSpPr/>
          <p:nvPr/>
        </p:nvSpPr>
        <p:spPr>
          <a:xfrm>
            <a:off x="5687568" y="2194560"/>
            <a:ext cx="272491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C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Monitoring network traffic to identify suspicious or malicious activity in real time.</a:t>
            </a:r>
            <a:endParaRPr lang="en-US" sz="1100" dirty="0"/>
          </a:p>
        </p:txBody>
      </p:sp>
      <p:sp>
        <p:nvSpPr>
          <p:cNvPr id="14" name="Shape 9"/>
          <p:cNvSpPr/>
          <p:nvPr/>
        </p:nvSpPr>
        <p:spPr>
          <a:xfrm>
            <a:off x="502920" y="3346704"/>
            <a:ext cx="3913632" cy="1536192"/>
          </a:xfrm>
          <a:prstGeom prst="roundRect">
            <a:avLst>
              <a:gd name="adj" fmla="val 5357"/>
            </a:avLst>
          </a:prstGeom>
          <a:solidFill>
            <a:srgbClr val="F4F8FA"/>
          </a:solidFill>
          <a:ln/>
          <a:effectLst>
            <a:outerShdw blurRad="76200" dist="25400" dir="54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5" name="Shape 10"/>
          <p:cNvSpPr/>
          <p:nvPr/>
        </p:nvSpPr>
        <p:spPr>
          <a:xfrm>
            <a:off x="731520" y="3575304"/>
            <a:ext cx="566928" cy="566928"/>
          </a:xfrm>
          <a:prstGeom prst="ellipse">
            <a:avLst/>
          </a:prstGeom>
          <a:solidFill>
            <a:srgbClr val="0A3D62"/>
          </a:solidFill>
          <a:ln/>
          <a:effectLst>
            <a:outerShdw blurRad="63500" dist="25400" dir="5400000" algn="bl" rotWithShape="0">
              <a:srgbClr val="000000">
                <a:alpha val="18000"/>
              </a:srgbClr>
            </a:outerShdw>
          </a:effectLst>
        </p:spPr>
      </p:sp>
      <p:pic>
        <p:nvPicPr>
          <p:cNvPr id="16" name="Image 3" descr="icons/FaExclamationTriangle_FFFFFF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78921" y="3722705"/>
            <a:ext cx="272125" cy="272125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1463040" y="3529584"/>
            <a:ext cx="27249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A3D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Organizations Need Threat Analytics</a:t>
            </a:r>
            <a:endParaRPr lang="en-US" sz="1350" dirty="0"/>
          </a:p>
        </p:txBody>
      </p:sp>
      <p:sp>
        <p:nvSpPr>
          <p:cNvPr id="18" name="Text 12"/>
          <p:cNvSpPr/>
          <p:nvPr/>
        </p:nvSpPr>
        <p:spPr>
          <a:xfrm>
            <a:off x="1463040" y="4005072"/>
            <a:ext cx="272491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C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Rising attack volumes demand data-driven detection instead of manual monitoring.</a:t>
            </a:r>
            <a:endParaRPr lang="en-US" sz="1100" dirty="0"/>
          </a:p>
        </p:txBody>
      </p:sp>
      <p:sp>
        <p:nvSpPr>
          <p:cNvPr id="19" name="Shape 13"/>
          <p:cNvSpPr/>
          <p:nvPr/>
        </p:nvSpPr>
        <p:spPr>
          <a:xfrm>
            <a:off x="4727448" y="3346704"/>
            <a:ext cx="3913632" cy="1536192"/>
          </a:xfrm>
          <a:prstGeom prst="roundRect">
            <a:avLst>
              <a:gd name="adj" fmla="val 5357"/>
            </a:avLst>
          </a:prstGeom>
          <a:solidFill>
            <a:srgbClr val="F4F8FA"/>
          </a:solidFill>
          <a:ln/>
          <a:effectLst>
            <a:outerShdw blurRad="76200" dist="25400" dir="5400000" algn="bl" rotWithShape="0">
              <a:srgbClr val="000000">
                <a:alpha val="15000"/>
              </a:srgbClr>
            </a:outerShdw>
          </a:effectLst>
        </p:spPr>
      </p:sp>
      <p:sp>
        <p:nvSpPr>
          <p:cNvPr id="20" name="Shape 14"/>
          <p:cNvSpPr/>
          <p:nvPr/>
        </p:nvSpPr>
        <p:spPr>
          <a:xfrm>
            <a:off x="4956048" y="3575304"/>
            <a:ext cx="566928" cy="566928"/>
          </a:xfrm>
          <a:prstGeom prst="ellipse">
            <a:avLst/>
          </a:prstGeom>
          <a:solidFill>
            <a:srgbClr val="0A3D62"/>
          </a:solidFill>
          <a:ln/>
          <a:effectLst>
            <a:outerShdw blurRad="63500" dist="25400" dir="5400000" algn="bl" rotWithShape="0">
              <a:srgbClr val="000000">
                <a:alpha val="18000"/>
              </a:srgbClr>
            </a:outerShdw>
          </a:effectLst>
        </p:spPr>
      </p:sp>
      <p:pic>
        <p:nvPicPr>
          <p:cNvPr id="21" name="Image 4" descr="icons/FaChartBar_FFFFFF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103449" y="3722705"/>
            <a:ext cx="272125" cy="272125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5687568" y="3529584"/>
            <a:ext cx="27249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A3D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Importance of Power BI</a:t>
            </a:r>
            <a:endParaRPr lang="en-US" sz="1350" dirty="0"/>
          </a:p>
        </p:txBody>
      </p:sp>
      <p:sp>
        <p:nvSpPr>
          <p:cNvPr id="23" name="Text 16"/>
          <p:cNvSpPr/>
          <p:nvPr/>
        </p:nvSpPr>
        <p:spPr>
          <a:xfrm>
            <a:off x="5687568" y="4005072"/>
            <a:ext cx="272491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C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Turns large security datasets into interactive visual dashboards for quick insights.</a:t>
            </a:r>
            <a:endParaRPr lang="en-US" sz="11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bg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270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02920" y="841248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0A3D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Workflow Diagram</a:t>
            </a:r>
            <a:endParaRPr lang="en-US" sz="2800" dirty="0"/>
          </a:p>
        </p:txBody>
      </p:sp>
      <p:sp>
        <p:nvSpPr>
          <p:cNvPr id="4" name="Shape 1"/>
          <p:cNvSpPr/>
          <p:nvPr/>
        </p:nvSpPr>
        <p:spPr>
          <a:xfrm>
            <a:off x="502920" y="1600200"/>
            <a:ext cx="1783080" cy="1417320"/>
          </a:xfrm>
          <a:prstGeom prst="roundRect">
            <a:avLst>
              <a:gd name="adj" fmla="val 5806"/>
            </a:avLst>
          </a:prstGeom>
          <a:solidFill>
            <a:srgbClr val="F4F8FA"/>
          </a:solidFill>
          <a:ln/>
          <a:effectLst>
            <a:outerShdw blurRad="76200" dist="25400" dir="5400000" algn="bl" rotWithShape="0">
              <a:srgbClr val="000000">
                <a:alpha val="15000"/>
              </a:srgbClr>
            </a:outerShdw>
          </a:effectLst>
        </p:spPr>
      </p:sp>
      <p:sp>
        <p:nvSpPr>
          <p:cNvPr id="5" name="Shape 2"/>
          <p:cNvSpPr/>
          <p:nvPr/>
        </p:nvSpPr>
        <p:spPr>
          <a:xfrm>
            <a:off x="1101852" y="1764792"/>
            <a:ext cx="585216" cy="585216"/>
          </a:xfrm>
          <a:prstGeom prst="ellipse">
            <a:avLst/>
          </a:prstGeom>
          <a:solidFill>
            <a:srgbClr val="0A3D62"/>
          </a:solidFill>
          <a:ln/>
          <a:effectLst>
            <a:outerShdw blurRad="63500" dist="25400" dir="5400000" algn="bl" rotWithShape="0">
              <a:srgbClr val="000000">
                <a:alpha val="18000"/>
              </a:srgbClr>
            </a:outerShdw>
          </a:effectLst>
        </p:spPr>
      </p:sp>
      <p:pic>
        <p:nvPicPr>
          <p:cNvPr id="6" name="Image 1" descr="icons/FaDatabase_FFFFF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54008" y="1916948"/>
            <a:ext cx="280904" cy="280904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576072" y="2441448"/>
            <a:ext cx="163677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1C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Dataset</a:t>
            </a:r>
            <a:endParaRPr lang="en-US" sz="110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1C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(Kaggle)</a:t>
            </a:r>
            <a:endParaRPr lang="en-US" sz="1100" dirty="0"/>
          </a:p>
        </p:txBody>
      </p:sp>
      <p:sp>
        <p:nvSpPr>
          <p:cNvPr id="8" name="Shape 4"/>
          <p:cNvSpPr/>
          <p:nvPr/>
        </p:nvSpPr>
        <p:spPr>
          <a:xfrm>
            <a:off x="2304288" y="2226564"/>
            <a:ext cx="100584" cy="164592"/>
          </a:xfrm>
          <a:prstGeom prst="rightArrow">
            <a:avLst/>
          </a:prstGeom>
          <a:solidFill>
            <a:srgbClr val="2AB7CA"/>
          </a:solidFill>
          <a:ln/>
        </p:spPr>
      </p:sp>
      <p:sp>
        <p:nvSpPr>
          <p:cNvPr id="9" name="Shape 5"/>
          <p:cNvSpPr/>
          <p:nvPr/>
        </p:nvSpPr>
        <p:spPr>
          <a:xfrm>
            <a:off x="2423160" y="1600200"/>
            <a:ext cx="1783080" cy="1417320"/>
          </a:xfrm>
          <a:prstGeom prst="roundRect">
            <a:avLst>
              <a:gd name="adj" fmla="val 5806"/>
            </a:avLst>
          </a:prstGeom>
          <a:solidFill>
            <a:srgbClr val="F4F8FA"/>
          </a:solidFill>
          <a:ln/>
          <a:effectLst>
            <a:outerShdw blurRad="76200" dist="25400" dir="54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0" name="Shape 6"/>
          <p:cNvSpPr/>
          <p:nvPr/>
        </p:nvSpPr>
        <p:spPr>
          <a:xfrm>
            <a:off x="3022092" y="1764792"/>
            <a:ext cx="585216" cy="585216"/>
          </a:xfrm>
          <a:prstGeom prst="ellipse">
            <a:avLst/>
          </a:prstGeom>
          <a:solidFill>
            <a:srgbClr val="0A3D62"/>
          </a:solidFill>
          <a:ln/>
          <a:effectLst>
            <a:outerShdw blurRad="63500" dist="25400" dir="5400000" algn="bl" rotWithShape="0">
              <a:srgbClr val="000000">
                <a:alpha val="18000"/>
              </a:srgbClr>
            </a:outerShdw>
          </a:effectLst>
        </p:spPr>
      </p:sp>
      <p:pic>
        <p:nvPicPr>
          <p:cNvPr id="11" name="Image 2" descr="icons/FaCloudUploadAlt_FFFFFF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174248" y="1916948"/>
            <a:ext cx="280904" cy="280904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2496312" y="2441448"/>
            <a:ext cx="163677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1C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110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1C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Collection</a:t>
            </a:r>
            <a:endParaRPr lang="en-US" sz="1100" dirty="0"/>
          </a:p>
        </p:txBody>
      </p:sp>
      <p:sp>
        <p:nvSpPr>
          <p:cNvPr id="13" name="Shape 8"/>
          <p:cNvSpPr/>
          <p:nvPr/>
        </p:nvSpPr>
        <p:spPr>
          <a:xfrm>
            <a:off x="4224528" y="2226564"/>
            <a:ext cx="100584" cy="164592"/>
          </a:xfrm>
          <a:prstGeom prst="rightArrow">
            <a:avLst/>
          </a:prstGeom>
          <a:solidFill>
            <a:srgbClr val="2AB7CA"/>
          </a:solidFill>
          <a:ln/>
        </p:spPr>
      </p:sp>
      <p:sp>
        <p:nvSpPr>
          <p:cNvPr id="14" name="Shape 9"/>
          <p:cNvSpPr/>
          <p:nvPr/>
        </p:nvSpPr>
        <p:spPr>
          <a:xfrm>
            <a:off x="4343400" y="1600200"/>
            <a:ext cx="1783080" cy="1417320"/>
          </a:xfrm>
          <a:prstGeom prst="roundRect">
            <a:avLst>
              <a:gd name="adj" fmla="val 5806"/>
            </a:avLst>
          </a:prstGeom>
          <a:solidFill>
            <a:srgbClr val="F4F8FA"/>
          </a:solidFill>
          <a:ln/>
          <a:effectLst>
            <a:outerShdw blurRad="76200" dist="25400" dir="54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5" name="Shape 10"/>
          <p:cNvSpPr/>
          <p:nvPr/>
        </p:nvSpPr>
        <p:spPr>
          <a:xfrm>
            <a:off x="4942332" y="1764792"/>
            <a:ext cx="585216" cy="585216"/>
          </a:xfrm>
          <a:prstGeom prst="ellipse">
            <a:avLst/>
          </a:prstGeom>
          <a:solidFill>
            <a:srgbClr val="0A3D62"/>
          </a:solidFill>
          <a:ln/>
          <a:effectLst>
            <a:outerShdw blurRad="63500" dist="25400" dir="5400000" algn="bl" rotWithShape="0">
              <a:srgbClr val="000000">
                <a:alpha val="18000"/>
              </a:srgbClr>
            </a:outerShdw>
          </a:effectLst>
        </p:spPr>
      </p:sp>
      <p:pic>
        <p:nvPicPr>
          <p:cNvPr id="16" name="Image 3" descr="icons/FaFileAlt_FFFFFF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94488" y="1916948"/>
            <a:ext cx="280904" cy="280904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4416552" y="2441448"/>
            <a:ext cx="163677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1C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110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1C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Loading</a:t>
            </a:r>
            <a:endParaRPr lang="en-US" sz="1100" dirty="0"/>
          </a:p>
        </p:txBody>
      </p:sp>
      <p:sp>
        <p:nvSpPr>
          <p:cNvPr id="18" name="Shape 12"/>
          <p:cNvSpPr/>
          <p:nvPr/>
        </p:nvSpPr>
        <p:spPr>
          <a:xfrm>
            <a:off x="6144768" y="2226564"/>
            <a:ext cx="100584" cy="164592"/>
          </a:xfrm>
          <a:prstGeom prst="rightArrow">
            <a:avLst/>
          </a:prstGeom>
          <a:solidFill>
            <a:srgbClr val="2AB7CA"/>
          </a:solidFill>
          <a:ln/>
        </p:spPr>
      </p:sp>
      <p:sp>
        <p:nvSpPr>
          <p:cNvPr id="19" name="Shape 13"/>
          <p:cNvSpPr/>
          <p:nvPr/>
        </p:nvSpPr>
        <p:spPr>
          <a:xfrm>
            <a:off x="6263640" y="1600200"/>
            <a:ext cx="1783080" cy="1417320"/>
          </a:xfrm>
          <a:prstGeom prst="roundRect">
            <a:avLst>
              <a:gd name="adj" fmla="val 5806"/>
            </a:avLst>
          </a:prstGeom>
          <a:solidFill>
            <a:srgbClr val="F4F8FA"/>
          </a:solidFill>
          <a:ln/>
          <a:effectLst>
            <a:outerShdw blurRad="76200" dist="25400" dir="5400000" algn="bl" rotWithShape="0">
              <a:srgbClr val="000000">
                <a:alpha val="15000"/>
              </a:srgbClr>
            </a:outerShdw>
          </a:effectLst>
        </p:spPr>
      </p:sp>
      <p:sp>
        <p:nvSpPr>
          <p:cNvPr id="20" name="Shape 14"/>
          <p:cNvSpPr/>
          <p:nvPr/>
        </p:nvSpPr>
        <p:spPr>
          <a:xfrm>
            <a:off x="6862572" y="1764792"/>
            <a:ext cx="585216" cy="585216"/>
          </a:xfrm>
          <a:prstGeom prst="ellipse">
            <a:avLst/>
          </a:prstGeom>
          <a:solidFill>
            <a:srgbClr val="0A3D62"/>
          </a:solidFill>
          <a:ln/>
          <a:effectLst>
            <a:outerShdw blurRad="63500" dist="25400" dir="5400000" algn="bl" rotWithShape="0">
              <a:srgbClr val="000000">
                <a:alpha val="18000"/>
              </a:srgbClr>
            </a:outerShdw>
          </a:effectLst>
        </p:spPr>
      </p:sp>
      <p:pic>
        <p:nvPicPr>
          <p:cNvPr id="21" name="Image 4" descr="icons/FaSearch_FFFFFF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014728" y="1916948"/>
            <a:ext cx="280904" cy="280904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6336792" y="2441448"/>
            <a:ext cx="163677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1C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110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1C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Understanding</a:t>
            </a:r>
            <a:endParaRPr lang="en-US" sz="1100" dirty="0"/>
          </a:p>
        </p:txBody>
      </p:sp>
      <p:sp>
        <p:nvSpPr>
          <p:cNvPr id="23" name="Shape 16"/>
          <p:cNvSpPr/>
          <p:nvPr/>
        </p:nvSpPr>
        <p:spPr>
          <a:xfrm>
            <a:off x="502920" y="3474720"/>
            <a:ext cx="1783080" cy="1417320"/>
          </a:xfrm>
          <a:prstGeom prst="roundRect">
            <a:avLst>
              <a:gd name="adj" fmla="val 5806"/>
            </a:avLst>
          </a:prstGeom>
          <a:solidFill>
            <a:srgbClr val="F4F8FA"/>
          </a:solidFill>
          <a:ln/>
          <a:effectLst>
            <a:outerShdw blurRad="76200" dist="25400" dir="5400000" algn="bl" rotWithShape="0">
              <a:srgbClr val="000000">
                <a:alpha val="15000"/>
              </a:srgbClr>
            </a:outerShdw>
          </a:effectLst>
        </p:spPr>
      </p:sp>
      <p:sp>
        <p:nvSpPr>
          <p:cNvPr id="24" name="Shape 17"/>
          <p:cNvSpPr/>
          <p:nvPr/>
        </p:nvSpPr>
        <p:spPr>
          <a:xfrm>
            <a:off x="1101852" y="3639312"/>
            <a:ext cx="585216" cy="585216"/>
          </a:xfrm>
          <a:prstGeom prst="ellipse">
            <a:avLst/>
          </a:prstGeom>
          <a:solidFill>
            <a:srgbClr val="0A3D62"/>
          </a:solidFill>
          <a:ln/>
          <a:effectLst>
            <a:outerShdw blurRad="63500" dist="25400" dir="5400000" algn="bl" rotWithShape="0">
              <a:srgbClr val="000000">
                <a:alpha val="18000"/>
              </a:srgbClr>
            </a:outerShdw>
          </a:effectLst>
        </p:spPr>
      </p:sp>
      <p:pic>
        <p:nvPicPr>
          <p:cNvPr id="25" name="Image 5" descr="icons/FaFilter_FFFFFF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254008" y="3791468"/>
            <a:ext cx="280904" cy="280904"/>
          </a:xfrm>
          <a:prstGeom prst="rect">
            <a:avLst/>
          </a:prstGeom>
        </p:spPr>
      </p:pic>
      <p:sp>
        <p:nvSpPr>
          <p:cNvPr id="26" name="Text 18"/>
          <p:cNvSpPr/>
          <p:nvPr/>
        </p:nvSpPr>
        <p:spPr>
          <a:xfrm>
            <a:off x="576072" y="4315968"/>
            <a:ext cx="163677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1C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110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1C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Preprocessing</a:t>
            </a:r>
            <a:endParaRPr lang="en-US" sz="1100" dirty="0"/>
          </a:p>
        </p:txBody>
      </p:sp>
      <p:sp>
        <p:nvSpPr>
          <p:cNvPr id="27" name="Shape 19"/>
          <p:cNvSpPr/>
          <p:nvPr/>
        </p:nvSpPr>
        <p:spPr>
          <a:xfrm>
            <a:off x="2304288" y="4101084"/>
            <a:ext cx="100584" cy="164592"/>
          </a:xfrm>
          <a:prstGeom prst="rightArrow">
            <a:avLst/>
          </a:prstGeom>
          <a:solidFill>
            <a:srgbClr val="2AB7CA"/>
          </a:solidFill>
          <a:ln/>
        </p:spPr>
      </p:sp>
      <p:sp>
        <p:nvSpPr>
          <p:cNvPr id="28" name="Shape 20"/>
          <p:cNvSpPr/>
          <p:nvPr/>
        </p:nvSpPr>
        <p:spPr>
          <a:xfrm>
            <a:off x="2423160" y="3474720"/>
            <a:ext cx="1783080" cy="1417320"/>
          </a:xfrm>
          <a:prstGeom prst="roundRect">
            <a:avLst>
              <a:gd name="adj" fmla="val 5806"/>
            </a:avLst>
          </a:prstGeom>
          <a:solidFill>
            <a:srgbClr val="F4F8FA"/>
          </a:solidFill>
          <a:ln/>
          <a:effectLst>
            <a:outerShdw blurRad="76200" dist="25400" dir="5400000" algn="bl" rotWithShape="0">
              <a:srgbClr val="000000">
                <a:alpha val="15000"/>
              </a:srgbClr>
            </a:outerShdw>
          </a:effectLst>
        </p:spPr>
      </p:sp>
      <p:sp>
        <p:nvSpPr>
          <p:cNvPr id="29" name="Shape 21"/>
          <p:cNvSpPr/>
          <p:nvPr/>
        </p:nvSpPr>
        <p:spPr>
          <a:xfrm>
            <a:off x="3022092" y="3639312"/>
            <a:ext cx="585216" cy="585216"/>
          </a:xfrm>
          <a:prstGeom prst="ellipse">
            <a:avLst/>
          </a:prstGeom>
          <a:solidFill>
            <a:srgbClr val="0A3D62"/>
          </a:solidFill>
          <a:ln/>
          <a:effectLst>
            <a:outerShdw blurRad="63500" dist="25400" dir="5400000" algn="bl" rotWithShape="0">
              <a:srgbClr val="000000">
                <a:alpha val="18000"/>
              </a:srgbClr>
            </a:outerShdw>
          </a:effectLst>
        </p:spPr>
      </p:sp>
      <p:pic>
        <p:nvPicPr>
          <p:cNvPr id="30" name="Image 6" descr="icons/FaChartBar_FFFFFF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174248" y="3791468"/>
            <a:ext cx="280904" cy="280904"/>
          </a:xfrm>
          <a:prstGeom prst="rect">
            <a:avLst/>
          </a:prstGeom>
        </p:spPr>
      </p:pic>
      <p:sp>
        <p:nvSpPr>
          <p:cNvPr id="31" name="Text 22"/>
          <p:cNvSpPr/>
          <p:nvPr/>
        </p:nvSpPr>
        <p:spPr>
          <a:xfrm>
            <a:off x="2496312" y="4315968"/>
            <a:ext cx="163677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1C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Visualization</a:t>
            </a:r>
            <a:endParaRPr lang="en-US" sz="110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1C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(Power BI)</a:t>
            </a:r>
            <a:endParaRPr lang="en-US" sz="1100" dirty="0"/>
          </a:p>
        </p:txBody>
      </p:sp>
      <p:sp>
        <p:nvSpPr>
          <p:cNvPr id="32" name="Shape 23"/>
          <p:cNvSpPr/>
          <p:nvPr/>
        </p:nvSpPr>
        <p:spPr>
          <a:xfrm>
            <a:off x="4224528" y="4101084"/>
            <a:ext cx="100584" cy="164592"/>
          </a:xfrm>
          <a:prstGeom prst="rightArrow">
            <a:avLst/>
          </a:prstGeom>
          <a:solidFill>
            <a:srgbClr val="2AB7CA"/>
          </a:solidFill>
          <a:ln/>
        </p:spPr>
      </p:sp>
      <p:sp>
        <p:nvSpPr>
          <p:cNvPr id="33" name="Shape 24"/>
          <p:cNvSpPr/>
          <p:nvPr/>
        </p:nvSpPr>
        <p:spPr>
          <a:xfrm>
            <a:off x="4343400" y="3474720"/>
            <a:ext cx="1783080" cy="1417320"/>
          </a:xfrm>
          <a:prstGeom prst="roundRect">
            <a:avLst>
              <a:gd name="adj" fmla="val 5806"/>
            </a:avLst>
          </a:prstGeom>
          <a:solidFill>
            <a:srgbClr val="F4F8FA"/>
          </a:solidFill>
          <a:ln/>
          <a:effectLst>
            <a:outerShdw blurRad="76200" dist="25400" dir="5400000" algn="bl" rotWithShape="0">
              <a:srgbClr val="000000">
                <a:alpha val="15000"/>
              </a:srgbClr>
            </a:outerShdw>
          </a:effectLst>
        </p:spPr>
      </p:sp>
      <p:sp>
        <p:nvSpPr>
          <p:cNvPr id="34" name="Shape 25"/>
          <p:cNvSpPr/>
          <p:nvPr/>
        </p:nvSpPr>
        <p:spPr>
          <a:xfrm>
            <a:off x="4942332" y="3639312"/>
            <a:ext cx="585216" cy="585216"/>
          </a:xfrm>
          <a:prstGeom prst="ellipse">
            <a:avLst/>
          </a:prstGeom>
          <a:solidFill>
            <a:srgbClr val="0A3D62"/>
          </a:solidFill>
          <a:ln/>
          <a:effectLst>
            <a:outerShdw blurRad="63500" dist="25400" dir="5400000" algn="bl" rotWithShape="0">
              <a:srgbClr val="000000">
                <a:alpha val="18000"/>
              </a:srgbClr>
            </a:outerShdw>
          </a:effectLst>
        </p:spPr>
      </p:sp>
      <p:pic>
        <p:nvPicPr>
          <p:cNvPr id="35" name="Image 7" descr="icons/FaShieldAlt_FFFFFF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094488" y="3791468"/>
            <a:ext cx="280904" cy="280904"/>
          </a:xfrm>
          <a:prstGeom prst="rect">
            <a:avLst/>
          </a:prstGeom>
        </p:spPr>
      </p:pic>
      <p:sp>
        <p:nvSpPr>
          <p:cNvPr id="36" name="Text 26"/>
          <p:cNvSpPr/>
          <p:nvPr/>
        </p:nvSpPr>
        <p:spPr>
          <a:xfrm>
            <a:off x="4416552" y="4315968"/>
            <a:ext cx="163677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1C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Threat Analytics</a:t>
            </a:r>
            <a:endParaRPr lang="en-US" sz="110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1C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1100" dirty="0"/>
          </a:p>
        </p:txBody>
      </p:sp>
      <p:sp>
        <p:nvSpPr>
          <p:cNvPr id="37" name="Shape 27"/>
          <p:cNvSpPr/>
          <p:nvPr/>
        </p:nvSpPr>
        <p:spPr>
          <a:xfrm>
            <a:off x="6144768" y="4101084"/>
            <a:ext cx="100584" cy="164592"/>
          </a:xfrm>
          <a:prstGeom prst="rightArrow">
            <a:avLst/>
          </a:prstGeom>
          <a:solidFill>
            <a:srgbClr val="2AB7CA"/>
          </a:solidFill>
          <a:ln/>
        </p:spPr>
      </p:sp>
      <p:sp>
        <p:nvSpPr>
          <p:cNvPr id="38" name="Shape 28"/>
          <p:cNvSpPr/>
          <p:nvPr/>
        </p:nvSpPr>
        <p:spPr>
          <a:xfrm>
            <a:off x="6263640" y="3474720"/>
            <a:ext cx="1783080" cy="1417320"/>
          </a:xfrm>
          <a:prstGeom prst="roundRect">
            <a:avLst>
              <a:gd name="adj" fmla="val 5806"/>
            </a:avLst>
          </a:prstGeom>
          <a:solidFill>
            <a:srgbClr val="F4F8FA"/>
          </a:solidFill>
          <a:ln/>
          <a:effectLst>
            <a:outerShdw blurRad="76200" dist="25400" dir="5400000" algn="bl" rotWithShape="0">
              <a:srgbClr val="000000">
                <a:alpha val="15000"/>
              </a:srgbClr>
            </a:outerShdw>
          </a:effectLst>
        </p:spPr>
      </p:sp>
      <p:sp>
        <p:nvSpPr>
          <p:cNvPr id="39" name="Shape 29"/>
          <p:cNvSpPr/>
          <p:nvPr/>
        </p:nvSpPr>
        <p:spPr>
          <a:xfrm>
            <a:off x="6862572" y="3639312"/>
            <a:ext cx="585216" cy="585216"/>
          </a:xfrm>
          <a:prstGeom prst="ellipse">
            <a:avLst/>
          </a:prstGeom>
          <a:solidFill>
            <a:srgbClr val="0A3D62"/>
          </a:solidFill>
          <a:ln/>
          <a:effectLst>
            <a:outerShdw blurRad="63500" dist="25400" dir="5400000" algn="bl" rotWithShape="0">
              <a:srgbClr val="000000">
                <a:alpha val="18000"/>
              </a:srgbClr>
            </a:outerShdw>
          </a:effectLst>
        </p:spPr>
      </p:sp>
      <p:pic>
        <p:nvPicPr>
          <p:cNvPr id="40" name="Image 8" descr="icons/FaLightbulb_FFFFFF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014728" y="3791468"/>
            <a:ext cx="280904" cy="280904"/>
          </a:xfrm>
          <a:prstGeom prst="rect">
            <a:avLst/>
          </a:prstGeom>
        </p:spPr>
      </p:pic>
      <p:sp>
        <p:nvSpPr>
          <p:cNvPr id="41" name="Text 30"/>
          <p:cNvSpPr/>
          <p:nvPr/>
        </p:nvSpPr>
        <p:spPr>
          <a:xfrm>
            <a:off x="6336792" y="4315968"/>
            <a:ext cx="163677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1C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Insights &amp;</a:t>
            </a:r>
            <a:endParaRPr lang="en-US" sz="110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1C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100" dirty="0"/>
          </a:p>
        </p:txBody>
      </p:sp>
      <p:sp>
        <p:nvSpPr>
          <p:cNvPr id="42" name="Shape 31"/>
          <p:cNvSpPr/>
          <p:nvPr/>
        </p:nvSpPr>
        <p:spPr>
          <a:xfrm rot="16200000">
            <a:off x="267716" y="3950208"/>
            <a:ext cx="219456" cy="155448"/>
          </a:xfrm>
          <a:prstGeom prst="downArrow">
            <a:avLst/>
          </a:prstGeom>
          <a:solidFill>
            <a:srgbClr val="2AB7CA"/>
          </a:solidFill>
          <a:ln/>
        </p:spPr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bg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02920" y="841248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0A3D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 Understanding</a:t>
            </a:r>
            <a:endParaRPr lang="en-US" sz="2800" dirty="0"/>
          </a:p>
        </p:txBody>
      </p:sp>
      <p:sp>
        <p:nvSpPr>
          <p:cNvPr id="4" name="Shape 1"/>
          <p:cNvSpPr/>
          <p:nvPr/>
        </p:nvSpPr>
        <p:spPr>
          <a:xfrm>
            <a:off x="502920" y="1536192"/>
            <a:ext cx="8138160" cy="749808"/>
          </a:xfrm>
          <a:prstGeom prst="roundRect">
            <a:avLst>
              <a:gd name="adj" fmla="val 10976"/>
            </a:avLst>
          </a:prstGeom>
          <a:solidFill>
            <a:srgbClr val="F4F8FA"/>
          </a:solidFill>
          <a:ln/>
          <a:effectLst>
            <a:outerShdw blurRad="76200" dist="25400" dir="5400000" algn="bl" rotWithShape="0">
              <a:srgbClr val="000000">
                <a:alpha val="15000"/>
              </a:srgbClr>
            </a:outerShdw>
          </a:effectLst>
        </p:spPr>
      </p:sp>
      <p:sp>
        <p:nvSpPr>
          <p:cNvPr id="5" name="Shape 2"/>
          <p:cNvSpPr/>
          <p:nvPr/>
        </p:nvSpPr>
        <p:spPr>
          <a:xfrm>
            <a:off x="704088" y="1682496"/>
            <a:ext cx="457200" cy="457200"/>
          </a:xfrm>
          <a:prstGeom prst="ellipse">
            <a:avLst/>
          </a:prstGeom>
          <a:solidFill>
            <a:srgbClr val="0A3D62"/>
          </a:solidFill>
          <a:ln/>
          <a:effectLst>
            <a:outerShdw blurRad="63500" dist="25400" dir="5400000" algn="bl" rotWithShape="0">
              <a:srgbClr val="000000">
                <a:alpha val="18000"/>
              </a:srgbClr>
            </a:outerShdw>
          </a:effectLst>
        </p:spPr>
      </p:sp>
      <p:pic>
        <p:nvPicPr>
          <p:cNvPr id="6" name="Image 1" descr="icons/FaExclamationTriangle_FFFFF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960" y="1801368"/>
            <a:ext cx="219456" cy="219456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371600" y="1618488"/>
            <a:ext cx="28346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0A3D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Increase in Cyber Attacks</a:t>
            </a:r>
            <a:endParaRPr lang="en-US" sz="1300" dirty="0"/>
          </a:p>
        </p:txBody>
      </p:sp>
      <p:sp>
        <p:nvSpPr>
          <p:cNvPr id="8" name="Text 4"/>
          <p:cNvSpPr/>
          <p:nvPr/>
        </p:nvSpPr>
        <p:spPr>
          <a:xfrm>
            <a:off x="4297680" y="1618488"/>
            <a:ext cx="41148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1C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Organizations face a rapidly growing volume and variety of cyber threats every year.</a:t>
            </a:r>
            <a:endParaRPr lang="en-US" sz="1150" dirty="0"/>
          </a:p>
        </p:txBody>
      </p:sp>
      <p:sp>
        <p:nvSpPr>
          <p:cNvPr id="9" name="Shape 5"/>
          <p:cNvSpPr/>
          <p:nvPr/>
        </p:nvSpPr>
        <p:spPr>
          <a:xfrm>
            <a:off x="502920" y="2432304"/>
            <a:ext cx="8138160" cy="749808"/>
          </a:xfrm>
          <a:prstGeom prst="roundRect">
            <a:avLst>
              <a:gd name="adj" fmla="val 10976"/>
            </a:avLst>
          </a:prstGeom>
          <a:solidFill>
            <a:srgbClr val="F4F8FA"/>
          </a:solidFill>
          <a:ln/>
          <a:effectLst>
            <a:outerShdw blurRad="76200" dist="25400" dir="54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0" name="Shape 6"/>
          <p:cNvSpPr/>
          <p:nvPr/>
        </p:nvSpPr>
        <p:spPr>
          <a:xfrm>
            <a:off x="704088" y="2578608"/>
            <a:ext cx="457200" cy="457200"/>
          </a:xfrm>
          <a:prstGeom prst="ellipse">
            <a:avLst/>
          </a:prstGeom>
          <a:solidFill>
            <a:srgbClr val="0A3D62"/>
          </a:solidFill>
          <a:ln/>
          <a:effectLst>
            <a:outerShdw blurRad="63500" dist="25400" dir="5400000" algn="bl" rotWithShape="0">
              <a:srgbClr val="000000">
                <a:alpha val="18000"/>
              </a:srgbClr>
            </a:outerShdw>
          </a:effectLst>
        </p:spPr>
      </p:sp>
      <p:pic>
        <p:nvPicPr>
          <p:cNvPr id="11" name="Image 2" descr="icons/FaBug_FFFFFF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2960" y="2697480"/>
            <a:ext cx="219456" cy="219456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371600" y="2514600"/>
            <a:ext cx="28346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0A3D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Difficulty Identifying Malicious Traffic</a:t>
            </a:r>
            <a:endParaRPr lang="en-US" sz="1300" dirty="0"/>
          </a:p>
        </p:txBody>
      </p:sp>
      <p:sp>
        <p:nvSpPr>
          <p:cNvPr id="13" name="Text 8"/>
          <p:cNvSpPr/>
          <p:nvPr/>
        </p:nvSpPr>
        <p:spPr>
          <a:xfrm>
            <a:off x="4297680" y="2514600"/>
            <a:ext cx="41148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1C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Distinguishing genuine traffic from malicious activity is complex without proper tools.</a:t>
            </a:r>
            <a:endParaRPr lang="en-US" sz="1150" dirty="0"/>
          </a:p>
        </p:txBody>
      </p:sp>
      <p:sp>
        <p:nvSpPr>
          <p:cNvPr id="14" name="Shape 9"/>
          <p:cNvSpPr/>
          <p:nvPr/>
        </p:nvSpPr>
        <p:spPr>
          <a:xfrm>
            <a:off x="502920" y="3328416"/>
            <a:ext cx="8138160" cy="749808"/>
          </a:xfrm>
          <a:prstGeom prst="roundRect">
            <a:avLst>
              <a:gd name="adj" fmla="val 10976"/>
            </a:avLst>
          </a:prstGeom>
          <a:solidFill>
            <a:srgbClr val="F4F8FA"/>
          </a:solidFill>
          <a:ln/>
          <a:effectLst>
            <a:outerShdw blurRad="76200" dist="25400" dir="54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5" name="Shape 10"/>
          <p:cNvSpPr/>
          <p:nvPr/>
        </p:nvSpPr>
        <p:spPr>
          <a:xfrm>
            <a:off x="704088" y="3474720"/>
            <a:ext cx="457200" cy="457200"/>
          </a:xfrm>
          <a:prstGeom prst="ellipse">
            <a:avLst/>
          </a:prstGeom>
          <a:solidFill>
            <a:srgbClr val="0A3D62"/>
          </a:solidFill>
          <a:ln/>
          <a:effectLst>
            <a:outerShdw blurRad="63500" dist="25400" dir="5400000" algn="bl" rotWithShape="0">
              <a:srgbClr val="000000">
                <a:alpha val="18000"/>
              </a:srgbClr>
            </a:outerShdw>
          </a:effectLst>
        </p:spPr>
      </p:sp>
      <p:pic>
        <p:nvPicPr>
          <p:cNvPr id="16" name="Image 3" descr="icons/FaFilter_FFFFFF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2960" y="3593592"/>
            <a:ext cx="219456" cy="219456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1371600" y="3410712"/>
            <a:ext cx="28346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0A3D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Importance of Preprocessing</a:t>
            </a:r>
            <a:endParaRPr lang="en-US" sz="1300" dirty="0"/>
          </a:p>
        </p:txBody>
      </p:sp>
      <p:sp>
        <p:nvSpPr>
          <p:cNvPr id="18" name="Text 12"/>
          <p:cNvSpPr/>
          <p:nvPr/>
        </p:nvSpPr>
        <p:spPr>
          <a:xfrm>
            <a:off x="4297680" y="3410712"/>
            <a:ext cx="41148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1C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security data contains noise, gaps and inconsistencies that must be cleaned first.</a:t>
            </a:r>
            <a:endParaRPr lang="en-US" sz="1150" dirty="0"/>
          </a:p>
        </p:txBody>
      </p:sp>
      <p:sp>
        <p:nvSpPr>
          <p:cNvPr id="19" name="Shape 13"/>
          <p:cNvSpPr/>
          <p:nvPr/>
        </p:nvSpPr>
        <p:spPr>
          <a:xfrm>
            <a:off x="502920" y="4224528"/>
            <a:ext cx="8138160" cy="749808"/>
          </a:xfrm>
          <a:prstGeom prst="roundRect">
            <a:avLst>
              <a:gd name="adj" fmla="val 10976"/>
            </a:avLst>
          </a:prstGeom>
          <a:solidFill>
            <a:srgbClr val="F4F8FA"/>
          </a:solidFill>
          <a:ln/>
          <a:effectLst>
            <a:outerShdw blurRad="76200" dist="25400" dir="5400000" algn="bl" rotWithShape="0">
              <a:srgbClr val="000000">
                <a:alpha val="15000"/>
              </a:srgbClr>
            </a:outerShdw>
          </a:effectLst>
        </p:spPr>
      </p:sp>
      <p:sp>
        <p:nvSpPr>
          <p:cNvPr id="20" name="Shape 14"/>
          <p:cNvSpPr/>
          <p:nvPr/>
        </p:nvSpPr>
        <p:spPr>
          <a:xfrm>
            <a:off x="704088" y="4370832"/>
            <a:ext cx="457200" cy="457200"/>
          </a:xfrm>
          <a:prstGeom prst="ellipse">
            <a:avLst/>
          </a:prstGeom>
          <a:solidFill>
            <a:srgbClr val="0A3D62"/>
          </a:solidFill>
          <a:ln/>
          <a:effectLst>
            <a:outerShdw blurRad="63500" dist="25400" dir="5400000" algn="bl" rotWithShape="0">
              <a:srgbClr val="000000">
                <a:alpha val="18000"/>
              </a:srgbClr>
            </a:outerShdw>
          </a:effectLst>
        </p:spPr>
      </p:sp>
      <p:pic>
        <p:nvPicPr>
          <p:cNvPr id="21" name="Image 4" descr="icons/FaChartPie_FFFFFF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22960" y="4489704"/>
            <a:ext cx="219456" cy="219456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1371600" y="4306824"/>
            <a:ext cx="28346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0A3D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 for Visualization</a:t>
            </a:r>
            <a:endParaRPr lang="en-US" sz="1300" dirty="0"/>
          </a:p>
        </p:txBody>
      </p:sp>
      <p:sp>
        <p:nvSpPr>
          <p:cNvPr id="23" name="Text 16"/>
          <p:cNvSpPr/>
          <p:nvPr/>
        </p:nvSpPr>
        <p:spPr>
          <a:xfrm>
            <a:off x="4297680" y="4306824"/>
            <a:ext cx="41148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1C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 dashboards make it far easier to spot attack trends than raw tabular logs.</a:t>
            </a:r>
            <a:endParaRPr lang="en-US" sz="115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bg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02920" y="841248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0A3D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Collection &amp; Understanding</a:t>
            </a:r>
            <a:endParaRPr lang="en-US" sz="2800" dirty="0"/>
          </a:p>
        </p:txBody>
      </p:sp>
      <p:sp>
        <p:nvSpPr>
          <p:cNvPr id="4" name="Shape 1"/>
          <p:cNvSpPr/>
          <p:nvPr/>
        </p:nvSpPr>
        <p:spPr>
          <a:xfrm>
            <a:off x="502920" y="1536192"/>
            <a:ext cx="3794760" cy="3063240"/>
          </a:xfrm>
          <a:prstGeom prst="roundRect">
            <a:avLst>
              <a:gd name="adj" fmla="val 2687"/>
            </a:avLst>
          </a:prstGeom>
          <a:solidFill>
            <a:srgbClr val="F4F8FA"/>
          </a:solidFill>
          <a:ln/>
          <a:effectLst>
            <a:outerShdw blurRad="76200" dist="25400" dir="5400000" algn="bl" rotWithShape="0">
              <a:srgbClr val="000000">
                <a:alpha val="15000"/>
              </a:srgbClr>
            </a:outerShdw>
          </a:effectLst>
        </p:spPr>
      </p:sp>
      <p:sp>
        <p:nvSpPr>
          <p:cNvPr id="5" name="Text 2"/>
          <p:cNvSpPr/>
          <p:nvPr/>
        </p:nvSpPr>
        <p:spPr>
          <a:xfrm>
            <a:off x="758952" y="1719072"/>
            <a:ext cx="32826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A3D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Overview</a:t>
            </a:r>
            <a:endParaRPr lang="en-US" sz="1500" dirty="0"/>
          </a:p>
        </p:txBody>
      </p:sp>
      <p:sp>
        <p:nvSpPr>
          <p:cNvPr id="6" name="Shape 3"/>
          <p:cNvSpPr/>
          <p:nvPr/>
        </p:nvSpPr>
        <p:spPr>
          <a:xfrm>
            <a:off x="640080" y="2176272"/>
            <a:ext cx="3520440" cy="48463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7" name="Text 4"/>
          <p:cNvSpPr/>
          <p:nvPr/>
        </p:nvSpPr>
        <p:spPr>
          <a:xfrm>
            <a:off x="758952" y="2194560"/>
            <a:ext cx="160020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C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Name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2377440" y="2194560"/>
            <a:ext cx="173736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0A3D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Cybersecurity Threat</a:t>
            </a:r>
            <a:endParaRPr lang="en-US" sz="11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0A3D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Detection Logs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758952" y="2679192"/>
            <a:ext cx="160020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C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Number of Rows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2377440" y="2679192"/>
            <a:ext cx="173736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0A3D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600,000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640080" y="3145536"/>
            <a:ext cx="3520440" cy="48463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2" name="Text 9"/>
          <p:cNvSpPr/>
          <p:nvPr/>
        </p:nvSpPr>
        <p:spPr>
          <a:xfrm>
            <a:off x="758952" y="3163824"/>
            <a:ext cx="160020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C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Number of Columns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2377440" y="3163824"/>
            <a:ext cx="173736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0A3D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758952" y="3648456"/>
            <a:ext cx="160020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C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Type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2377440" y="3648456"/>
            <a:ext cx="173736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0A3D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Raw, unprocessed data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640080" y="4114800"/>
            <a:ext cx="3520440" cy="48463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7" name="Text 14"/>
          <p:cNvSpPr/>
          <p:nvPr/>
        </p:nvSpPr>
        <p:spPr>
          <a:xfrm>
            <a:off x="758952" y="4133088"/>
            <a:ext cx="160020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C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Types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2377440" y="4133088"/>
            <a:ext cx="173736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0A3D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Numerical, categorical</a:t>
            </a:r>
            <a:endParaRPr lang="en-US" sz="11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0A3D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timestamp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4526280" y="1536192"/>
            <a:ext cx="4114800" cy="3063240"/>
          </a:xfrm>
          <a:prstGeom prst="roundRect">
            <a:avLst>
              <a:gd name="adj" fmla="val 2687"/>
            </a:avLst>
          </a:prstGeom>
          <a:solidFill>
            <a:srgbClr val="F4F8FA"/>
          </a:solidFill>
          <a:ln/>
          <a:effectLst>
            <a:outerShdw blurRad="76200" dist="25400" dir="5400000" algn="bl" rotWithShape="0">
              <a:srgbClr val="000000">
                <a:alpha val="15000"/>
              </a:srgbClr>
            </a:outerShdw>
          </a:effectLst>
        </p:spPr>
      </p:sp>
      <p:sp>
        <p:nvSpPr>
          <p:cNvPr id="20" name="Text 17"/>
          <p:cNvSpPr/>
          <p:nvPr/>
        </p:nvSpPr>
        <p:spPr>
          <a:xfrm>
            <a:off x="4782312" y="1719072"/>
            <a:ext cx="36027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A3D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Features</a:t>
            </a:r>
            <a:endParaRPr lang="en-US" sz="1500" dirty="0"/>
          </a:p>
        </p:txBody>
      </p:sp>
      <p:sp>
        <p:nvSpPr>
          <p:cNvPr id="21" name="Shape 18"/>
          <p:cNvSpPr/>
          <p:nvPr/>
        </p:nvSpPr>
        <p:spPr>
          <a:xfrm>
            <a:off x="4782312" y="2212848"/>
            <a:ext cx="310896" cy="310896"/>
          </a:xfrm>
          <a:prstGeom prst="ellipse">
            <a:avLst/>
          </a:prstGeom>
          <a:solidFill>
            <a:srgbClr val="2AB7CA"/>
          </a:solidFill>
          <a:ln/>
          <a:effectLst>
            <a:outerShdw blurRad="63500" dist="25400" dir="5400000" algn="bl" rotWithShape="0">
              <a:srgbClr val="000000">
                <a:alpha val="18000"/>
              </a:srgbClr>
            </a:outerShdw>
          </a:effectLst>
        </p:spPr>
      </p:sp>
      <p:pic>
        <p:nvPicPr>
          <p:cNvPr id="22" name="Image 1" descr="icons/FaClock_FFFFF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63145" y="2293681"/>
            <a:ext cx="149230" cy="149230"/>
          </a:xfrm>
          <a:prstGeom prst="rect">
            <a:avLst/>
          </a:prstGeom>
        </p:spPr>
      </p:pic>
      <p:sp>
        <p:nvSpPr>
          <p:cNvPr id="23" name="Text 19"/>
          <p:cNvSpPr/>
          <p:nvPr/>
        </p:nvSpPr>
        <p:spPr>
          <a:xfrm>
            <a:off x="5212080" y="2176272"/>
            <a:ext cx="320040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A3D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Timestamp  —  </a:t>
            </a:r>
            <a:r>
              <a:rPr lang="en-US" sz="1050" dirty="0">
                <a:solidFill>
                  <a:srgbClr val="1C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Date/time of the network event</a:t>
            </a:r>
            <a:endParaRPr lang="en-US" sz="1050" dirty="0"/>
          </a:p>
        </p:txBody>
      </p:sp>
      <p:sp>
        <p:nvSpPr>
          <p:cNvPr id="24" name="Shape 20"/>
          <p:cNvSpPr/>
          <p:nvPr/>
        </p:nvSpPr>
        <p:spPr>
          <a:xfrm>
            <a:off x="4782312" y="2606040"/>
            <a:ext cx="310896" cy="310896"/>
          </a:xfrm>
          <a:prstGeom prst="ellipse">
            <a:avLst/>
          </a:prstGeom>
          <a:solidFill>
            <a:srgbClr val="2AB7CA"/>
          </a:solidFill>
          <a:ln/>
          <a:effectLst>
            <a:outerShdw blurRad="63500" dist="25400" dir="5400000" algn="bl" rotWithShape="0">
              <a:srgbClr val="000000">
                <a:alpha val="18000"/>
              </a:srgbClr>
            </a:outerShdw>
          </a:effectLst>
        </p:spPr>
      </p:sp>
      <p:pic>
        <p:nvPicPr>
          <p:cNvPr id="25" name="Image 2" descr="icons/FaGlobe_FFFFFF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63145" y="2686873"/>
            <a:ext cx="149230" cy="149230"/>
          </a:xfrm>
          <a:prstGeom prst="rect">
            <a:avLst/>
          </a:prstGeom>
        </p:spPr>
      </p:pic>
      <p:sp>
        <p:nvSpPr>
          <p:cNvPr id="26" name="Text 21"/>
          <p:cNvSpPr/>
          <p:nvPr/>
        </p:nvSpPr>
        <p:spPr>
          <a:xfrm>
            <a:off x="5212080" y="2569464"/>
            <a:ext cx="320040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A3D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&amp; Destination IP  —  </a:t>
            </a:r>
            <a:r>
              <a:rPr lang="en-US" sz="1050" dirty="0">
                <a:solidFill>
                  <a:srgbClr val="1C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Traffic origin and target</a:t>
            </a:r>
            <a:endParaRPr lang="en-US" sz="1050" dirty="0"/>
          </a:p>
        </p:txBody>
      </p:sp>
      <p:sp>
        <p:nvSpPr>
          <p:cNvPr id="27" name="Shape 22"/>
          <p:cNvSpPr/>
          <p:nvPr/>
        </p:nvSpPr>
        <p:spPr>
          <a:xfrm>
            <a:off x="4782312" y="2999232"/>
            <a:ext cx="310896" cy="310896"/>
          </a:xfrm>
          <a:prstGeom prst="ellipse">
            <a:avLst/>
          </a:prstGeom>
          <a:solidFill>
            <a:srgbClr val="2AB7CA"/>
          </a:solidFill>
          <a:ln/>
          <a:effectLst>
            <a:outerShdw blurRad="63500" dist="25400" dir="5400000" algn="bl" rotWithShape="0">
              <a:srgbClr val="000000">
                <a:alpha val="18000"/>
              </a:srgbClr>
            </a:outerShdw>
          </a:effectLst>
        </p:spPr>
      </p:sp>
      <p:pic>
        <p:nvPicPr>
          <p:cNvPr id="28" name="Image 3" descr="icons/FaExchangeAlt_FFFFFF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63145" y="3080065"/>
            <a:ext cx="149230" cy="149230"/>
          </a:xfrm>
          <a:prstGeom prst="rect">
            <a:avLst/>
          </a:prstGeom>
        </p:spPr>
      </p:pic>
      <p:sp>
        <p:nvSpPr>
          <p:cNvPr id="29" name="Text 23"/>
          <p:cNvSpPr/>
          <p:nvPr/>
        </p:nvSpPr>
        <p:spPr>
          <a:xfrm>
            <a:off x="5212080" y="2962656"/>
            <a:ext cx="320040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A3D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Protocol  —  </a:t>
            </a:r>
            <a:r>
              <a:rPr lang="en-US" sz="1050" dirty="0">
                <a:solidFill>
                  <a:srgbClr val="1C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Communication protocol used</a:t>
            </a:r>
            <a:endParaRPr lang="en-US" sz="1050" dirty="0"/>
          </a:p>
        </p:txBody>
      </p:sp>
      <p:sp>
        <p:nvSpPr>
          <p:cNvPr id="30" name="Shape 24"/>
          <p:cNvSpPr/>
          <p:nvPr/>
        </p:nvSpPr>
        <p:spPr>
          <a:xfrm>
            <a:off x="4782312" y="3392424"/>
            <a:ext cx="310896" cy="310896"/>
          </a:xfrm>
          <a:prstGeom prst="ellipse">
            <a:avLst/>
          </a:prstGeom>
          <a:solidFill>
            <a:srgbClr val="2AB7CA"/>
          </a:solidFill>
          <a:ln/>
          <a:effectLst>
            <a:outerShdw blurRad="63500" dist="25400" dir="5400000" algn="bl" rotWithShape="0">
              <a:srgbClr val="000000">
                <a:alpha val="18000"/>
              </a:srgbClr>
            </a:outerShdw>
          </a:effectLst>
        </p:spPr>
      </p:sp>
      <p:pic>
        <p:nvPicPr>
          <p:cNvPr id="31" name="Image 4" descr="icons/FaKey_FFFFFF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63145" y="3473257"/>
            <a:ext cx="149230" cy="149230"/>
          </a:xfrm>
          <a:prstGeom prst="rect">
            <a:avLst/>
          </a:prstGeom>
        </p:spPr>
      </p:pic>
      <p:sp>
        <p:nvSpPr>
          <p:cNvPr id="32" name="Text 25"/>
          <p:cNvSpPr/>
          <p:nvPr/>
        </p:nvSpPr>
        <p:spPr>
          <a:xfrm>
            <a:off x="5212080" y="3355848"/>
            <a:ext cx="320040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A3D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Threat_label  —  </a:t>
            </a:r>
            <a:r>
              <a:rPr lang="en-US" sz="1050" dirty="0">
                <a:solidFill>
                  <a:srgbClr val="1C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Size and category of packet</a:t>
            </a:r>
            <a:endParaRPr lang="en-US" sz="1050" dirty="0"/>
          </a:p>
        </p:txBody>
      </p:sp>
      <p:sp>
        <p:nvSpPr>
          <p:cNvPr id="33" name="Shape 26"/>
          <p:cNvSpPr/>
          <p:nvPr/>
        </p:nvSpPr>
        <p:spPr>
          <a:xfrm>
            <a:off x="4782312" y="3785616"/>
            <a:ext cx="310896" cy="310896"/>
          </a:xfrm>
          <a:prstGeom prst="ellipse">
            <a:avLst/>
          </a:prstGeom>
          <a:solidFill>
            <a:srgbClr val="2AB7CA"/>
          </a:solidFill>
          <a:ln/>
          <a:effectLst>
            <a:outerShdw blurRad="63500" dist="25400" dir="5400000" algn="bl" rotWithShape="0">
              <a:srgbClr val="000000">
                <a:alpha val="18000"/>
              </a:srgbClr>
            </a:outerShdw>
          </a:effectLst>
        </p:spPr>
      </p:sp>
      <p:pic>
        <p:nvPicPr>
          <p:cNvPr id="34" name="Image 5" descr="icons/FaListUl_FFFFFF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863145" y="3866449"/>
            <a:ext cx="149230" cy="149230"/>
          </a:xfrm>
          <a:prstGeom prst="rect">
            <a:avLst/>
          </a:prstGeom>
        </p:spPr>
      </p:pic>
      <p:sp>
        <p:nvSpPr>
          <p:cNvPr id="35" name="Text 27"/>
          <p:cNvSpPr/>
          <p:nvPr/>
        </p:nvSpPr>
        <p:spPr>
          <a:xfrm>
            <a:off x="5212080" y="3749040"/>
            <a:ext cx="320040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A3D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Log_type  —  </a:t>
            </a:r>
            <a:r>
              <a:rPr lang="en-US" sz="1050" dirty="0">
                <a:solidFill>
                  <a:srgbClr val="1C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Classification of network traffic</a:t>
            </a:r>
            <a:endParaRPr lang="en-US" sz="1050" dirty="0"/>
          </a:p>
        </p:txBody>
      </p:sp>
      <p:sp>
        <p:nvSpPr>
          <p:cNvPr id="36" name="Shape 28"/>
          <p:cNvSpPr/>
          <p:nvPr/>
        </p:nvSpPr>
        <p:spPr>
          <a:xfrm>
            <a:off x="4782312" y="4178808"/>
            <a:ext cx="310896" cy="310896"/>
          </a:xfrm>
          <a:prstGeom prst="ellipse">
            <a:avLst/>
          </a:prstGeom>
          <a:solidFill>
            <a:srgbClr val="2AB7CA"/>
          </a:solidFill>
          <a:ln/>
          <a:effectLst>
            <a:outerShdw blurRad="63500" dist="25400" dir="5400000" algn="bl" rotWithShape="0">
              <a:srgbClr val="000000">
                <a:alpha val="18000"/>
              </a:srgbClr>
            </a:outerShdw>
          </a:effectLst>
        </p:spPr>
      </p:sp>
      <p:pic>
        <p:nvPicPr>
          <p:cNvPr id="37" name="Image 6" descr="icons/FaCogs_FFFFFF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863145" y="4259641"/>
            <a:ext cx="149230" cy="149230"/>
          </a:xfrm>
          <a:prstGeom prst="rect">
            <a:avLst/>
          </a:prstGeom>
        </p:spPr>
      </p:pic>
      <p:sp>
        <p:nvSpPr>
          <p:cNvPr id="38" name="Text 29"/>
          <p:cNvSpPr/>
          <p:nvPr/>
        </p:nvSpPr>
        <p:spPr>
          <a:xfrm>
            <a:off x="5212080" y="4142232"/>
            <a:ext cx="320040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A3D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 —  </a:t>
            </a:r>
            <a:r>
              <a:rPr lang="en-US" sz="1050" dirty="0">
                <a:solidFill>
                  <a:srgbClr val="1C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Nature of the action</a:t>
            </a:r>
            <a:endParaRPr lang="en-US" sz="105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bg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02920" y="841248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0A3D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Connection</a:t>
            </a:r>
            <a:endParaRPr lang="en-US" sz="2800" dirty="0"/>
          </a:p>
        </p:txBody>
      </p:sp>
      <p:sp>
        <p:nvSpPr>
          <p:cNvPr id="4" name="Shape 1"/>
          <p:cNvSpPr/>
          <p:nvPr/>
        </p:nvSpPr>
        <p:spPr>
          <a:xfrm>
            <a:off x="502920" y="1536192"/>
            <a:ext cx="8138160" cy="457200"/>
          </a:xfrm>
          <a:prstGeom prst="roundRect">
            <a:avLst>
              <a:gd name="adj" fmla="val 16000"/>
            </a:avLst>
          </a:prstGeom>
          <a:solidFill>
            <a:srgbClr val="F4F8FA"/>
          </a:solidFill>
          <a:ln/>
          <a:effectLst>
            <a:outerShdw blurRad="76200" dist="25400" dir="5400000" algn="bl" rotWithShape="0">
              <a:srgbClr val="000000">
                <a:alpha val="15000"/>
              </a:srgbClr>
            </a:outerShdw>
          </a:effectLst>
        </p:spPr>
      </p:sp>
      <p:sp>
        <p:nvSpPr>
          <p:cNvPr id="5" name="Shape 2"/>
          <p:cNvSpPr/>
          <p:nvPr/>
        </p:nvSpPr>
        <p:spPr>
          <a:xfrm>
            <a:off x="667512" y="1627632"/>
            <a:ext cx="274320" cy="274320"/>
          </a:xfrm>
          <a:prstGeom prst="ellipse">
            <a:avLst/>
          </a:prstGeom>
          <a:solidFill>
            <a:srgbClr val="0A3D62"/>
          </a:solidFill>
          <a:ln/>
        </p:spPr>
      </p:sp>
      <p:sp>
        <p:nvSpPr>
          <p:cNvPr id="6" name="Text 3"/>
          <p:cNvSpPr/>
          <p:nvPr/>
        </p:nvSpPr>
        <p:spPr>
          <a:xfrm>
            <a:off x="667512" y="162763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1124712" y="1536192"/>
            <a:ext cx="6766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C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Download the dataset from Kaggle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8074152" y="1591056"/>
            <a:ext cx="347472" cy="347472"/>
          </a:xfrm>
          <a:prstGeom prst="ellipse">
            <a:avLst/>
          </a:prstGeom>
          <a:solidFill>
            <a:srgbClr val="2AB7CA"/>
          </a:solidFill>
          <a:ln/>
          <a:effectLst>
            <a:outerShdw blurRad="63500" dist="25400" dir="5400000" algn="bl" rotWithShape="0">
              <a:srgbClr val="000000">
                <a:alpha val="18000"/>
              </a:srgbClr>
            </a:outerShdw>
          </a:effectLst>
        </p:spPr>
      </p:sp>
      <p:pic>
        <p:nvPicPr>
          <p:cNvPr id="9" name="Image 1" descr="icons/FaCloudUploadAlt_FFFFF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64495" y="1681399"/>
            <a:ext cx="166787" cy="166787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502920" y="2093976"/>
            <a:ext cx="8138160" cy="457200"/>
          </a:xfrm>
          <a:prstGeom prst="roundRect">
            <a:avLst>
              <a:gd name="adj" fmla="val 16000"/>
            </a:avLst>
          </a:prstGeom>
          <a:solidFill>
            <a:srgbClr val="F4F8FA"/>
          </a:solidFill>
          <a:ln/>
          <a:effectLst>
            <a:outerShdw blurRad="76200" dist="25400" dir="54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667512" y="2185416"/>
            <a:ext cx="274320" cy="274320"/>
          </a:xfrm>
          <a:prstGeom prst="ellipse">
            <a:avLst/>
          </a:prstGeom>
          <a:solidFill>
            <a:srgbClr val="0A3D62"/>
          </a:solidFill>
          <a:ln/>
        </p:spPr>
      </p:sp>
      <p:sp>
        <p:nvSpPr>
          <p:cNvPr id="12" name="Text 8"/>
          <p:cNvSpPr/>
          <p:nvPr/>
        </p:nvSpPr>
        <p:spPr>
          <a:xfrm>
            <a:off x="667512" y="218541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3" name="Text 9"/>
          <p:cNvSpPr/>
          <p:nvPr/>
        </p:nvSpPr>
        <p:spPr>
          <a:xfrm>
            <a:off x="1124712" y="2093976"/>
            <a:ext cx="6766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C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 the dataset into Power BI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8074152" y="2148840"/>
            <a:ext cx="347472" cy="347472"/>
          </a:xfrm>
          <a:prstGeom prst="ellipse">
            <a:avLst/>
          </a:prstGeom>
          <a:solidFill>
            <a:srgbClr val="2AB7CA"/>
          </a:solidFill>
          <a:ln/>
          <a:effectLst>
            <a:outerShdw blurRad="63500" dist="25400" dir="5400000" algn="bl" rotWithShape="0">
              <a:srgbClr val="000000">
                <a:alpha val="18000"/>
              </a:srgbClr>
            </a:outerShdw>
          </a:effectLst>
        </p:spPr>
      </p:sp>
      <p:pic>
        <p:nvPicPr>
          <p:cNvPr id="15" name="Image 2" descr="icons/FaDesktop_FFFFFF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64495" y="2239183"/>
            <a:ext cx="166787" cy="166787"/>
          </a:xfrm>
          <a:prstGeom prst="rect">
            <a:avLst/>
          </a:prstGeom>
        </p:spPr>
      </p:pic>
      <p:sp>
        <p:nvSpPr>
          <p:cNvPr id="16" name="Shape 11"/>
          <p:cNvSpPr/>
          <p:nvPr/>
        </p:nvSpPr>
        <p:spPr>
          <a:xfrm>
            <a:off x="502920" y="2651760"/>
            <a:ext cx="8138160" cy="457200"/>
          </a:xfrm>
          <a:prstGeom prst="roundRect">
            <a:avLst>
              <a:gd name="adj" fmla="val 16000"/>
            </a:avLst>
          </a:prstGeom>
          <a:solidFill>
            <a:srgbClr val="F4F8FA"/>
          </a:solidFill>
          <a:ln/>
          <a:effectLst>
            <a:outerShdw blurRad="76200" dist="25400" dir="54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7" name="Shape 12"/>
          <p:cNvSpPr/>
          <p:nvPr/>
        </p:nvSpPr>
        <p:spPr>
          <a:xfrm>
            <a:off x="667512" y="2743200"/>
            <a:ext cx="274320" cy="274320"/>
          </a:xfrm>
          <a:prstGeom prst="ellipse">
            <a:avLst/>
          </a:prstGeom>
          <a:solidFill>
            <a:srgbClr val="0A3D62"/>
          </a:solidFill>
          <a:ln/>
        </p:spPr>
      </p:sp>
      <p:sp>
        <p:nvSpPr>
          <p:cNvPr id="18" name="Text 13"/>
          <p:cNvSpPr/>
          <p:nvPr/>
        </p:nvSpPr>
        <p:spPr>
          <a:xfrm>
            <a:off x="667512" y="27432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9" name="Text 14"/>
          <p:cNvSpPr/>
          <p:nvPr/>
        </p:nvSpPr>
        <p:spPr>
          <a:xfrm>
            <a:off x="1124712" y="2651760"/>
            <a:ext cx="6766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C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Power Query Editor</a:t>
            </a:r>
            <a:endParaRPr lang="en-US" sz="1300" dirty="0"/>
          </a:p>
        </p:txBody>
      </p:sp>
      <p:sp>
        <p:nvSpPr>
          <p:cNvPr id="20" name="Shape 15"/>
          <p:cNvSpPr/>
          <p:nvPr/>
        </p:nvSpPr>
        <p:spPr>
          <a:xfrm>
            <a:off x="8074152" y="2706624"/>
            <a:ext cx="347472" cy="347472"/>
          </a:xfrm>
          <a:prstGeom prst="ellipse">
            <a:avLst/>
          </a:prstGeom>
          <a:solidFill>
            <a:srgbClr val="2AB7CA"/>
          </a:solidFill>
          <a:ln/>
          <a:effectLst>
            <a:outerShdw blurRad="63500" dist="25400" dir="5400000" algn="bl" rotWithShape="0">
              <a:srgbClr val="000000">
                <a:alpha val="18000"/>
              </a:srgbClr>
            </a:outerShdw>
          </a:effectLst>
        </p:spPr>
      </p:sp>
      <p:pic>
        <p:nvPicPr>
          <p:cNvPr id="21" name="Image 3" descr="icons/FaCogs_FFFFFF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64495" y="2796967"/>
            <a:ext cx="166787" cy="166787"/>
          </a:xfrm>
          <a:prstGeom prst="rect">
            <a:avLst/>
          </a:prstGeom>
        </p:spPr>
      </p:pic>
      <p:sp>
        <p:nvSpPr>
          <p:cNvPr id="22" name="Shape 16"/>
          <p:cNvSpPr/>
          <p:nvPr/>
        </p:nvSpPr>
        <p:spPr>
          <a:xfrm>
            <a:off x="502920" y="3209544"/>
            <a:ext cx="8138160" cy="457200"/>
          </a:xfrm>
          <a:prstGeom prst="roundRect">
            <a:avLst>
              <a:gd name="adj" fmla="val 16000"/>
            </a:avLst>
          </a:prstGeom>
          <a:solidFill>
            <a:srgbClr val="F4F8FA"/>
          </a:solidFill>
          <a:ln/>
          <a:effectLst>
            <a:outerShdw blurRad="76200" dist="25400" dir="5400000" algn="bl" rotWithShape="0">
              <a:srgbClr val="000000">
                <a:alpha val="15000"/>
              </a:srgbClr>
            </a:outerShdw>
          </a:effectLst>
        </p:spPr>
      </p:sp>
      <p:sp>
        <p:nvSpPr>
          <p:cNvPr id="23" name="Shape 17"/>
          <p:cNvSpPr/>
          <p:nvPr/>
        </p:nvSpPr>
        <p:spPr>
          <a:xfrm>
            <a:off x="667512" y="3300984"/>
            <a:ext cx="274320" cy="274320"/>
          </a:xfrm>
          <a:prstGeom prst="ellipse">
            <a:avLst/>
          </a:prstGeom>
          <a:solidFill>
            <a:srgbClr val="0A3D62"/>
          </a:solidFill>
          <a:ln/>
        </p:spPr>
      </p:sp>
      <p:sp>
        <p:nvSpPr>
          <p:cNvPr id="24" name="Text 18"/>
          <p:cNvSpPr/>
          <p:nvPr/>
        </p:nvSpPr>
        <p:spPr>
          <a:xfrm>
            <a:off x="667512" y="330098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5" name="Text 19"/>
          <p:cNvSpPr/>
          <p:nvPr/>
        </p:nvSpPr>
        <p:spPr>
          <a:xfrm>
            <a:off x="1124712" y="3209544"/>
            <a:ext cx="6766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C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 all columns are loaded correctly</a:t>
            </a:r>
            <a:endParaRPr lang="en-US" sz="1300" dirty="0"/>
          </a:p>
        </p:txBody>
      </p:sp>
      <p:sp>
        <p:nvSpPr>
          <p:cNvPr id="26" name="Shape 20"/>
          <p:cNvSpPr/>
          <p:nvPr/>
        </p:nvSpPr>
        <p:spPr>
          <a:xfrm>
            <a:off x="8074152" y="3264408"/>
            <a:ext cx="347472" cy="347472"/>
          </a:xfrm>
          <a:prstGeom prst="ellipse">
            <a:avLst/>
          </a:prstGeom>
          <a:solidFill>
            <a:srgbClr val="2AB7CA"/>
          </a:solidFill>
          <a:ln/>
          <a:effectLst>
            <a:outerShdw blurRad="63500" dist="25400" dir="5400000" algn="bl" rotWithShape="0">
              <a:srgbClr val="000000">
                <a:alpha val="18000"/>
              </a:srgbClr>
            </a:outerShdw>
          </a:effectLst>
        </p:spPr>
      </p:sp>
      <p:pic>
        <p:nvPicPr>
          <p:cNvPr id="27" name="Image 4" descr="icons/FaTable_FFFFFF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164495" y="3354751"/>
            <a:ext cx="166787" cy="166787"/>
          </a:xfrm>
          <a:prstGeom prst="rect">
            <a:avLst/>
          </a:prstGeom>
        </p:spPr>
      </p:pic>
      <p:sp>
        <p:nvSpPr>
          <p:cNvPr id="28" name="Shape 21"/>
          <p:cNvSpPr/>
          <p:nvPr/>
        </p:nvSpPr>
        <p:spPr>
          <a:xfrm>
            <a:off x="502920" y="3767328"/>
            <a:ext cx="8138160" cy="457200"/>
          </a:xfrm>
          <a:prstGeom prst="roundRect">
            <a:avLst>
              <a:gd name="adj" fmla="val 16000"/>
            </a:avLst>
          </a:prstGeom>
          <a:solidFill>
            <a:srgbClr val="F4F8FA"/>
          </a:solidFill>
          <a:ln/>
          <a:effectLst>
            <a:outerShdw blurRad="76200" dist="25400" dir="5400000" algn="bl" rotWithShape="0">
              <a:srgbClr val="000000">
                <a:alpha val="15000"/>
              </a:srgbClr>
            </a:outerShdw>
          </a:effectLst>
        </p:spPr>
      </p:sp>
      <p:sp>
        <p:nvSpPr>
          <p:cNvPr id="29" name="Shape 22"/>
          <p:cNvSpPr/>
          <p:nvPr/>
        </p:nvSpPr>
        <p:spPr>
          <a:xfrm>
            <a:off x="667512" y="3858768"/>
            <a:ext cx="274320" cy="274320"/>
          </a:xfrm>
          <a:prstGeom prst="ellipse">
            <a:avLst/>
          </a:prstGeom>
          <a:solidFill>
            <a:srgbClr val="0A3D62"/>
          </a:solidFill>
          <a:ln/>
        </p:spPr>
      </p:sp>
      <p:sp>
        <p:nvSpPr>
          <p:cNvPr id="30" name="Text 23"/>
          <p:cNvSpPr/>
          <p:nvPr/>
        </p:nvSpPr>
        <p:spPr>
          <a:xfrm>
            <a:off x="667512" y="385876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31" name="Text 24"/>
          <p:cNvSpPr/>
          <p:nvPr/>
        </p:nvSpPr>
        <p:spPr>
          <a:xfrm>
            <a:off x="1124712" y="3767328"/>
            <a:ext cx="6766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C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and confirm data types</a:t>
            </a:r>
            <a:endParaRPr lang="en-US" sz="1300" dirty="0"/>
          </a:p>
        </p:txBody>
      </p:sp>
      <p:sp>
        <p:nvSpPr>
          <p:cNvPr id="32" name="Shape 25"/>
          <p:cNvSpPr/>
          <p:nvPr/>
        </p:nvSpPr>
        <p:spPr>
          <a:xfrm>
            <a:off x="8074152" y="3822192"/>
            <a:ext cx="347472" cy="347472"/>
          </a:xfrm>
          <a:prstGeom prst="ellipse">
            <a:avLst/>
          </a:prstGeom>
          <a:solidFill>
            <a:srgbClr val="2AB7CA"/>
          </a:solidFill>
          <a:ln/>
          <a:effectLst>
            <a:outerShdw blurRad="63500" dist="25400" dir="5400000" algn="bl" rotWithShape="0">
              <a:srgbClr val="000000">
                <a:alpha val="18000"/>
              </a:srgbClr>
            </a:outerShdw>
          </a:effectLst>
        </p:spPr>
      </p:sp>
      <p:pic>
        <p:nvPicPr>
          <p:cNvPr id="33" name="Image 5" descr="icons/FaCheckCircle_FFFFFF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164495" y="3912535"/>
            <a:ext cx="166787" cy="166787"/>
          </a:xfrm>
          <a:prstGeom prst="rect">
            <a:avLst/>
          </a:prstGeom>
        </p:spPr>
      </p:pic>
      <p:sp>
        <p:nvSpPr>
          <p:cNvPr id="34" name="Shape 26"/>
          <p:cNvSpPr/>
          <p:nvPr/>
        </p:nvSpPr>
        <p:spPr>
          <a:xfrm>
            <a:off x="502920" y="4325112"/>
            <a:ext cx="8138160" cy="457200"/>
          </a:xfrm>
          <a:prstGeom prst="roundRect">
            <a:avLst>
              <a:gd name="adj" fmla="val 16000"/>
            </a:avLst>
          </a:prstGeom>
          <a:solidFill>
            <a:srgbClr val="F4F8FA"/>
          </a:solidFill>
          <a:ln/>
          <a:effectLst>
            <a:outerShdw blurRad="76200" dist="25400" dir="5400000" algn="bl" rotWithShape="0">
              <a:srgbClr val="000000">
                <a:alpha val="15000"/>
              </a:srgbClr>
            </a:outerShdw>
          </a:effectLst>
        </p:spPr>
      </p:sp>
      <p:sp>
        <p:nvSpPr>
          <p:cNvPr id="35" name="Shape 27"/>
          <p:cNvSpPr/>
          <p:nvPr/>
        </p:nvSpPr>
        <p:spPr>
          <a:xfrm>
            <a:off x="667512" y="4416552"/>
            <a:ext cx="274320" cy="274320"/>
          </a:xfrm>
          <a:prstGeom prst="ellipse">
            <a:avLst/>
          </a:prstGeom>
          <a:solidFill>
            <a:srgbClr val="0A3D62"/>
          </a:solidFill>
          <a:ln/>
        </p:spPr>
      </p:sp>
      <p:sp>
        <p:nvSpPr>
          <p:cNvPr id="36" name="Text 28"/>
          <p:cNvSpPr/>
          <p:nvPr/>
        </p:nvSpPr>
        <p:spPr>
          <a:xfrm>
            <a:off x="667512" y="441655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200" dirty="0"/>
          </a:p>
        </p:txBody>
      </p:sp>
      <p:sp>
        <p:nvSpPr>
          <p:cNvPr id="37" name="Text 29"/>
          <p:cNvSpPr/>
          <p:nvPr/>
        </p:nvSpPr>
        <p:spPr>
          <a:xfrm>
            <a:off x="1124712" y="4325112"/>
            <a:ext cx="6766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C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ready for preprocessing</a:t>
            </a:r>
            <a:endParaRPr lang="en-US" sz="1300" dirty="0"/>
          </a:p>
        </p:txBody>
      </p:sp>
      <p:sp>
        <p:nvSpPr>
          <p:cNvPr id="38" name="Shape 30"/>
          <p:cNvSpPr/>
          <p:nvPr/>
        </p:nvSpPr>
        <p:spPr>
          <a:xfrm>
            <a:off x="8074152" y="4379976"/>
            <a:ext cx="347472" cy="347472"/>
          </a:xfrm>
          <a:prstGeom prst="ellipse">
            <a:avLst/>
          </a:prstGeom>
          <a:solidFill>
            <a:srgbClr val="2AB7CA"/>
          </a:solidFill>
          <a:ln/>
          <a:effectLst>
            <a:outerShdw blurRad="63500" dist="25400" dir="5400000" algn="bl" rotWithShape="0">
              <a:srgbClr val="000000">
                <a:alpha val="18000"/>
              </a:srgbClr>
            </a:outerShdw>
          </a:effectLst>
        </p:spPr>
      </p:sp>
      <p:pic>
        <p:nvPicPr>
          <p:cNvPr id="39" name="Image 6" descr="icons/FaClipboardCheck_FFFFFF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164495" y="4470319"/>
            <a:ext cx="166787" cy="166787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bg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02920" y="841248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0A3D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Preprocessing</a:t>
            </a:r>
            <a:endParaRPr lang="en-US" sz="2800" dirty="0"/>
          </a:p>
        </p:txBody>
      </p:sp>
      <p:sp>
        <p:nvSpPr>
          <p:cNvPr id="4" name="Text 1"/>
          <p:cNvSpPr/>
          <p:nvPr/>
        </p:nvSpPr>
        <p:spPr>
          <a:xfrm>
            <a:off x="502920" y="1371600"/>
            <a:ext cx="8138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12-step preprocessing pipeline transforms raw logs into analysis-ready data</a:t>
            </a:r>
            <a:endParaRPr lang="en-US" sz="1200" dirty="0"/>
          </a:p>
        </p:txBody>
      </p:sp>
      <p:sp>
        <p:nvSpPr>
          <p:cNvPr id="5" name="Shape 2"/>
          <p:cNvSpPr/>
          <p:nvPr/>
        </p:nvSpPr>
        <p:spPr>
          <a:xfrm>
            <a:off x="502920" y="1783080"/>
            <a:ext cx="1920240" cy="932688"/>
          </a:xfrm>
          <a:prstGeom prst="roundRect">
            <a:avLst>
              <a:gd name="adj" fmla="val 7843"/>
            </a:avLst>
          </a:prstGeom>
          <a:solidFill>
            <a:srgbClr val="F4F8FA"/>
          </a:solidFill>
          <a:ln/>
          <a:effectLst>
            <a:outerShdw blurRad="76200" dist="25400" dir="5400000" algn="bl" rotWithShape="0">
              <a:srgbClr val="000000">
                <a:alpha val="15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630936" y="2057400"/>
            <a:ext cx="384048" cy="384048"/>
          </a:xfrm>
          <a:prstGeom prst="ellipse">
            <a:avLst/>
          </a:prstGeom>
          <a:solidFill>
            <a:srgbClr val="0A3D62"/>
          </a:solidFill>
          <a:ln/>
          <a:effectLst>
            <a:outerShdw blurRad="63500" dist="25400" dir="5400000" algn="bl" rotWithShape="0">
              <a:srgbClr val="000000">
                <a:alpha val="18000"/>
              </a:srgbClr>
            </a:outerShdw>
          </a:effectLst>
        </p:spPr>
      </p:sp>
      <p:pic>
        <p:nvPicPr>
          <p:cNvPr id="7" name="Image 1" descr="icons/FaCloudUploadAlt_FFFFF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0788" y="2157252"/>
            <a:ext cx="184343" cy="184343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088136" y="1828800"/>
            <a:ext cx="1207008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1C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Data Collection</a:t>
            </a:r>
            <a:endParaRPr lang="en-US" sz="950" dirty="0"/>
          </a:p>
        </p:txBody>
      </p:sp>
      <p:sp>
        <p:nvSpPr>
          <p:cNvPr id="9" name="Shape 5"/>
          <p:cNvSpPr/>
          <p:nvPr/>
        </p:nvSpPr>
        <p:spPr>
          <a:xfrm>
            <a:off x="2523744" y="1783080"/>
            <a:ext cx="1920240" cy="932688"/>
          </a:xfrm>
          <a:prstGeom prst="roundRect">
            <a:avLst>
              <a:gd name="adj" fmla="val 7843"/>
            </a:avLst>
          </a:prstGeom>
          <a:solidFill>
            <a:srgbClr val="F4F8FA"/>
          </a:solidFill>
          <a:ln/>
          <a:effectLst>
            <a:outerShdw blurRad="76200" dist="25400" dir="54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0" name="Shape 6"/>
          <p:cNvSpPr/>
          <p:nvPr/>
        </p:nvSpPr>
        <p:spPr>
          <a:xfrm>
            <a:off x="2651760" y="2057400"/>
            <a:ext cx="384048" cy="384048"/>
          </a:xfrm>
          <a:prstGeom prst="ellipse">
            <a:avLst/>
          </a:prstGeom>
          <a:solidFill>
            <a:srgbClr val="0A3D62"/>
          </a:solidFill>
          <a:ln/>
          <a:effectLst>
            <a:outerShdw blurRad="63500" dist="25400" dir="5400000" algn="bl" rotWithShape="0">
              <a:srgbClr val="000000">
                <a:alpha val="18000"/>
              </a:srgbClr>
            </a:outerShdw>
          </a:effectLst>
        </p:spPr>
      </p:sp>
      <p:pic>
        <p:nvPicPr>
          <p:cNvPr id="11" name="Image 2" descr="icons/FaFileAlt_FFFFFF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751612" y="2157252"/>
            <a:ext cx="184343" cy="184343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3108960" y="1828800"/>
            <a:ext cx="1207008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1C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Data Loading</a:t>
            </a:r>
            <a:endParaRPr lang="en-US" sz="950" dirty="0"/>
          </a:p>
        </p:txBody>
      </p:sp>
      <p:sp>
        <p:nvSpPr>
          <p:cNvPr id="13" name="Shape 8"/>
          <p:cNvSpPr/>
          <p:nvPr/>
        </p:nvSpPr>
        <p:spPr>
          <a:xfrm>
            <a:off x="4544568" y="1783080"/>
            <a:ext cx="1920240" cy="932688"/>
          </a:xfrm>
          <a:prstGeom prst="roundRect">
            <a:avLst>
              <a:gd name="adj" fmla="val 7843"/>
            </a:avLst>
          </a:prstGeom>
          <a:solidFill>
            <a:srgbClr val="F4F8FA"/>
          </a:solidFill>
          <a:ln/>
          <a:effectLst>
            <a:outerShdw blurRad="76200" dist="25400" dir="54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4" name="Shape 9"/>
          <p:cNvSpPr/>
          <p:nvPr/>
        </p:nvSpPr>
        <p:spPr>
          <a:xfrm>
            <a:off x="4672584" y="2057400"/>
            <a:ext cx="384048" cy="384048"/>
          </a:xfrm>
          <a:prstGeom prst="ellipse">
            <a:avLst/>
          </a:prstGeom>
          <a:solidFill>
            <a:srgbClr val="0A3D62"/>
          </a:solidFill>
          <a:ln/>
          <a:effectLst>
            <a:outerShdw blurRad="63500" dist="25400" dir="5400000" algn="bl" rotWithShape="0">
              <a:srgbClr val="000000">
                <a:alpha val="18000"/>
              </a:srgbClr>
            </a:outerShdw>
          </a:effectLst>
        </p:spPr>
      </p:sp>
      <p:pic>
        <p:nvPicPr>
          <p:cNvPr id="15" name="Image 3" descr="icons/FaSearch_FFFFFF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72436" y="2157252"/>
            <a:ext cx="184343" cy="184343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5129784" y="1828800"/>
            <a:ext cx="1207008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1C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Data Inspection</a:t>
            </a:r>
            <a:endParaRPr lang="en-US" sz="950" dirty="0"/>
          </a:p>
        </p:txBody>
      </p:sp>
      <p:sp>
        <p:nvSpPr>
          <p:cNvPr id="17" name="Shape 11"/>
          <p:cNvSpPr/>
          <p:nvPr/>
        </p:nvSpPr>
        <p:spPr>
          <a:xfrm>
            <a:off x="6565392" y="1783080"/>
            <a:ext cx="1920240" cy="932688"/>
          </a:xfrm>
          <a:prstGeom prst="roundRect">
            <a:avLst>
              <a:gd name="adj" fmla="val 7843"/>
            </a:avLst>
          </a:prstGeom>
          <a:solidFill>
            <a:srgbClr val="F4F8FA"/>
          </a:solidFill>
          <a:ln/>
          <a:effectLst>
            <a:outerShdw blurRad="76200" dist="25400" dir="54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8" name="Shape 12"/>
          <p:cNvSpPr/>
          <p:nvPr/>
        </p:nvSpPr>
        <p:spPr>
          <a:xfrm>
            <a:off x="6693408" y="2057400"/>
            <a:ext cx="384048" cy="384048"/>
          </a:xfrm>
          <a:prstGeom prst="ellipse">
            <a:avLst/>
          </a:prstGeom>
          <a:solidFill>
            <a:srgbClr val="0A3D62"/>
          </a:solidFill>
          <a:ln/>
          <a:effectLst>
            <a:outerShdw blurRad="63500" dist="25400" dir="5400000" algn="bl" rotWithShape="0">
              <a:srgbClr val="000000">
                <a:alpha val="18000"/>
              </a:srgbClr>
            </a:outerShdw>
          </a:effectLst>
        </p:spPr>
      </p:sp>
      <p:pic>
        <p:nvPicPr>
          <p:cNvPr id="19" name="Image 4" descr="icons/FaExclamationTriangle_FFFFFF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793260" y="2157252"/>
            <a:ext cx="184343" cy="184343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7150608" y="1828800"/>
            <a:ext cx="1207008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1C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Handling Missing Values</a:t>
            </a:r>
            <a:endParaRPr lang="en-US" sz="950" dirty="0"/>
          </a:p>
        </p:txBody>
      </p:sp>
      <p:sp>
        <p:nvSpPr>
          <p:cNvPr id="21" name="Shape 14"/>
          <p:cNvSpPr/>
          <p:nvPr/>
        </p:nvSpPr>
        <p:spPr>
          <a:xfrm>
            <a:off x="502920" y="2834640"/>
            <a:ext cx="1920240" cy="932688"/>
          </a:xfrm>
          <a:prstGeom prst="roundRect">
            <a:avLst>
              <a:gd name="adj" fmla="val 7843"/>
            </a:avLst>
          </a:prstGeom>
          <a:solidFill>
            <a:srgbClr val="F4F8FA"/>
          </a:solidFill>
          <a:ln/>
          <a:effectLst>
            <a:outerShdw blurRad="76200" dist="25400" dir="5400000" algn="bl" rotWithShape="0">
              <a:srgbClr val="000000">
                <a:alpha val="15000"/>
              </a:srgbClr>
            </a:outerShdw>
          </a:effectLst>
        </p:spPr>
      </p:sp>
      <p:sp>
        <p:nvSpPr>
          <p:cNvPr id="22" name="Shape 15"/>
          <p:cNvSpPr/>
          <p:nvPr/>
        </p:nvSpPr>
        <p:spPr>
          <a:xfrm>
            <a:off x="630936" y="3108960"/>
            <a:ext cx="384048" cy="384048"/>
          </a:xfrm>
          <a:prstGeom prst="ellipse">
            <a:avLst/>
          </a:prstGeom>
          <a:solidFill>
            <a:srgbClr val="0A3D62"/>
          </a:solidFill>
          <a:ln/>
          <a:effectLst>
            <a:outerShdw blurRad="63500" dist="25400" dir="5400000" algn="bl" rotWithShape="0">
              <a:srgbClr val="000000">
                <a:alpha val="18000"/>
              </a:srgbClr>
            </a:outerShdw>
          </a:effectLst>
        </p:spPr>
      </p:sp>
      <p:pic>
        <p:nvPicPr>
          <p:cNvPr id="23" name="Image 5" descr="icons/FaClone_FFFFFF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30788" y="3208812"/>
            <a:ext cx="184343" cy="184343"/>
          </a:xfrm>
          <a:prstGeom prst="rect">
            <a:avLst/>
          </a:prstGeom>
        </p:spPr>
      </p:pic>
      <p:sp>
        <p:nvSpPr>
          <p:cNvPr id="24" name="Text 16"/>
          <p:cNvSpPr/>
          <p:nvPr/>
        </p:nvSpPr>
        <p:spPr>
          <a:xfrm>
            <a:off x="1088136" y="2880360"/>
            <a:ext cx="1207008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1C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Removing Duplicates</a:t>
            </a:r>
            <a:endParaRPr lang="en-US" sz="950" dirty="0"/>
          </a:p>
        </p:txBody>
      </p:sp>
      <p:sp>
        <p:nvSpPr>
          <p:cNvPr id="25" name="Shape 17"/>
          <p:cNvSpPr/>
          <p:nvPr/>
        </p:nvSpPr>
        <p:spPr>
          <a:xfrm>
            <a:off x="2523744" y="2834640"/>
            <a:ext cx="1920240" cy="932688"/>
          </a:xfrm>
          <a:prstGeom prst="roundRect">
            <a:avLst>
              <a:gd name="adj" fmla="val 7843"/>
            </a:avLst>
          </a:prstGeom>
          <a:solidFill>
            <a:srgbClr val="F4F8FA"/>
          </a:solidFill>
          <a:ln/>
          <a:effectLst>
            <a:outerShdw blurRad="76200" dist="25400" dir="5400000" algn="bl" rotWithShape="0">
              <a:srgbClr val="000000">
                <a:alpha val="15000"/>
              </a:srgbClr>
            </a:outerShdw>
          </a:effectLst>
        </p:spPr>
      </p:sp>
      <p:sp>
        <p:nvSpPr>
          <p:cNvPr id="26" name="Shape 18"/>
          <p:cNvSpPr/>
          <p:nvPr/>
        </p:nvSpPr>
        <p:spPr>
          <a:xfrm>
            <a:off x="2651760" y="3108960"/>
            <a:ext cx="384048" cy="384048"/>
          </a:xfrm>
          <a:prstGeom prst="ellipse">
            <a:avLst/>
          </a:prstGeom>
          <a:solidFill>
            <a:srgbClr val="0A3D62"/>
          </a:solidFill>
          <a:ln/>
          <a:effectLst>
            <a:outerShdw blurRad="63500" dist="25400" dir="5400000" algn="bl" rotWithShape="0">
              <a:srgbClr val="000000">
                <a:alpha val="18000"/>
              </a:srgbClr>
            </a:outerShdw>
          </a:effectLst>
        </p:spPr>
      </p:sp>
      <p:pic>
        <p:nvPicPr>
          <p:cNvPr id="27" name="Image 6" descr="icons/FaBug_FFFFFF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751612" y="3208812"/>
            <a:ext cx="184343" cy="184343"/>
          </a:xfrm>
          <a:prstGeom prst="rect">
            <a:avLst/>
          </a:prstGeom>
        </p:spPr>
      </p:pic>
      <p:sp>
        <p:nvSpPr>
          <p:cNvPr id="28" name="Text 19"/>
          <p:cNvSpPr/>
          <p:nvPr/>
        </p:nvSpPr>
        <p:spPr>
          <a:xfrm>
            <a:off x="3108960" y="2880360"/>
            <a:ext cx="1207008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1C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Handling Outliers</a:t>
            </a:r>
            <a:endParaRPr lang="en-US" sz="950" dirty="0"/>
          </a:p>
        </p:txBody>
      </p:sp>
      <p:sp>
        <p:nvSpPr>
          <p:cNvPr id="29" name="Shape 20"/>
          <p:cNvSpPr/>
          <p:nvPr/>
        </p:nvSpPr>
        <p:spPr>
          <a:xfrm>
            <a:off x="4544568" y="2834640"/>
            <a:ext cx="1920240" cy="932688"/>
          </a:xfrm>
          <a:prstGeom prst="roundRect">
            <a:avLst>
              <a:gd name="adj" fmla="val 7843"/>
            </a:avLst>
          </a:prstGeom>
          <a:solidFill>
            <a:srgbClr val="F4F8FA"/>
          </a:solidFill>
          <a:ln/>
          <a:effectLst>
            <a:outerShdw blurRad="76200" dist="25400" dir="5400000" algn="bl" rotWithShape="0">
              <a:srgbClr val="000000">
                <a:alpha val="15000"/>
              </a:srgbClr>
            </a:outerShdw>
          </a:effectLst>
        </p:spPr>
      </p:sp>
      <p:sp>
        <p:nvSpPr>
          <p:cNvPr id="30" name="Shape 21"/>
          <p:cNvSpPr/>
          <p:nvPr/>
        </p:nvSpPr>
        <p:spPr>
          <a:xfrm>
            <a:off x="4672584" y="3108960"/>
            <a:ext cx="384048" cy="384048"/>
          </a:xfrm>
          <a:prstGeom prst="ellipse">
            <a:avLst/>
          </a:prstGeom>
          <a:solidFill>
            <a:srgbClr val="0A3D62"/>
          </a:solidFill>
          <a:ln/>
          <a:effectLst>
            <a:outerShdw blurRad="63500" dist="25400" dir="5400000" algn="bl" rotWithShape="0">
              <a:srgbClr val="000000">
                <a:alpha val="18000"/>
              </a:srgbClr>
            </a:outerShdw>
          </a:effectLst>
        </p:spPr>
      </p:sp>
      <p:pic>
        <p:nvPicPr>
          <p:cNvPr id="31" name="Image 7" descr="icons/FaBroom_FFFFFF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772436" y="3208812"/>
            <a:ext cx="184343" cy="184343"/>
          </a:xfrm>
          <a:prstGeom prst="rect">
            <a:avLst/>
          </a:prstGeom>
        </p:spPr>
      </p:pic>
      <p:sp>
        <p:nvSpPr>
          <p:cNvPr id="32" name="Text 22"/>
          <p:cNvSpPr/>
          <p:nvPr/>
        </p:nvSpPr>
        <p:spPr>
          <a:xfrm>
            <a:off x="5129784" y="2880360"/>
            <a:ext cx="1207008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1C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 Data Cleaning</a:t>
            </a:r>
            <a:endParaRPr lang="en-US" sz="950" dirty="0"/>
          </a:p>
        </p:txBody>
      </p:sp>
      <p:sp>
        <p:nvSpPr>
          <p:cNvPr id="33" name="Shape 23"/>
          <p:cNvSpPr/>
          <p:nvPr/>
        </p:nvSpPr>
        <p:spPr>
          <a:xfrm>
            <a:off x="6565392" y="2834640"/>
            <a:ext cx="1920240" cy="932688"/>
          </a:xfrm>
          <a:prstGeom prst="roundRect">
            <a:avLst>
              <a:gd name="adj" fmla="val 7843"/>
            </a:avLst>
          </a:prstGeom>
          <a:solidFill>
            <a:srgbClr val="F4F8FA"/>
          </a:solidFill>
          <a:ln/>
          <a:effectLst>
            <a:outerShdw blurRad="76200" dist="25400" dir="5400000" algn="bl" rotWithShape="0">
              <a:srgbClr val="000000">
                <a:alpha val="15000"/>
              </a:srgbClr>
            </a:outerShdw>
          </a:effectLst>
        </p:spPr>
      </p:sp>
      <p:sp>
        <p:nvSpPr>
          <p:cNvPr id="34" name="Shape 24"/>
          <p:cNvSpPr/>
          <p:nvPr/>
        </p:nvSpPr>
        <p:spPr>
          <a:xfrm>
            <a:off x="6693408" y="3108960"/>
            <a:ext cx="384048" cy="384048"/>
          </a:xfrm>
          <a:prstGeom prst="ellipse">
            <a:avLst/>
          </a:prstGeom>
          <a:solidFill>
            <a:srgbClr val="0A3D62"/>
          </a:solidFill>
          <a:ln/>
          <a:effectLst>
            <a:outerShdw blurRad="63500" dist="25400" dir="5400000" algn="bl" rotWithShape="0">
              <a:srgbClr val="000000">
                <a:alpha val="18000"/>
              </a:srgbClr>
            </a:outerShdw>
          </a:effectLst>
        </p:spPr>
      </p:sp>
      <p:pic>
        <p:nvPicPr>
          <p:cNvPr id="35" name="Image 8" descr="icons/FaObjectGroup_FFFFFF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793260" y="3208812"/>
            <a:ext cx="184343" cy="184343"/>
          </a:xfrm>
          <a:prstGeom prst="rect">
            <a:avLst/>
          </a:prstGeom>
        </p:spPr>
      </p:pic>
      <p:sp>
        <p:nvSpPr>
          <p:cNvPr id="36" name="Text 25"/>
          <p:cNvSpPr/>
          <p:nvPr/>
        </p:nvSpPr>
        <p:spPr>
          <a:xfrm>
            <a:off x="7150608" y="2880360"/>
            <a:ext cx="1207008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1C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 Encoding Categorical Features</a:t>
            </a:r>
            <a:endParaRPr lang="en-US" sz="950" dirty="0"/>
          </a:p>
        </p:txBody>
      </p:sp>
      <p:sp>
        <p:nvSpPr>
          <p:cNvPr id="37" name="Shape 26"/>
          <p:cNvSpPr/>
          <p:nvPr/>
        </p:nvSpPr>
        <p:spPr>
          <a:xfrm>
            <a:off x="502920" y="3886200"/>
            <a:ext cx="1920240" cy="932688"/>
          </a:xfrm>
          <a:prstGeom prst="roundRect">
            <a:avLst>
              <a:gd name="adj" fmla="val 7843"/>
            </a:avLst>
          </a:prstGeom>
          <a:solidFill>
            <a:srgbClr val="F4F8FA"/>
          </a:solidFill>
          <a:ln/>
          <a:effectLst>
            <a:outerShdw blurRad="76200" dist="25400" dir="5400000" algn="bl" rotWithShape="0">
              <a:srgbClr val="000000">
                <a:alpha val="15000"/>
              </a:srgbClr>
            </a:outerShdw>
          </a:effectLst>
        </p:spPr>
      </p:sp>
      <p:sp>
        <p:nvSpPr>
          <p:cNvPr id="38" name="Shape 27"/>
          <p:cNvSpPr/>
          <p:nvPr/>
        </p:nvSpPr>
        <p:spPr>
          <a:xfrm>
            <a:off x="630936" y="4160520"/>
            <a:ext cx="384048" cy="384048"/>
          </a:xfrm>
          <a:prstGeom prst="ellipse">
            <a:avLst/>
          </a:prstGeom>
          <a:solidFill>
            <a:srgbClr val="0A3D62"/>
          </a:solidFill>
          <a:ln/>
          <a:effectLst>
            <a:outerShdw blurRad="63500" dist="25400" dir="5400000" algn="bl" rotWithShape="0">
              <a:srgbClr val="000000">
                <a:alpha val="18000"/>
              </a:srgbClr>
            </a:outerShdw>
          </a:effectLst>
        </p:spPr>
      </p:sp>
      <p:pic>
        <p:nvPicPr>
          <p:cNvPr id="39" name="Image 9" descr="icons/FaSlidersH_FFFFFF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30788" y="4260372"/>
            <a:ext cx="184343" cy="184343"/>
          </a:xfrm>
          <a:prstGeom prst="rect">
            <a:avLst/>
          </a:prstGeom>
        </p:spPr>
      </p:pic>
      <p:sp>
        <p:nvSpPr>
          <p:cNvPr id="40" name="Text 28"/>
          <p:cNvSpPr/>
          <p:nvPr/>
        </p:nvSpPr>
        <p:spPr>
          <a:xfrm>
            <a:off x="1088136" y="3931920"/>
            <a:ext cx="1207008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1C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 Feature Scaling</a:t>
            </a:r>
            <a:endParaRPr lang="en-US" sz="950" dirty="0"/>
          </a:p>
        </p:txBody>
      </p:sp>
      <p:sp>
        <p:nvSpPr>
          <p:cNvPr id="41" name="Shape 29"/>
          <p:cNvSpPr/>
          <p:nvPr/>
        </p:nvSpPr>
        <p:spPr>
          <a:xfrm>
            <a:off x="2523744" y="3886200"/>
            <a:ext cx="1920240" cy="932688"/>
          </a:xfrm>
          <a:prstGeom prst="roundRect">
            <a:avLst>
              <a:gd name="adj" fmla="val 7843"/>
            </a:avLst>
          </a:prstGeom>
          <a:solidFill>
            <a:srgbClr val="F4F8FA"/>
          </a:solidFill>
          <a:ln/>
          <a:effectLst>
            <a:outerShdw blurRad="76200" dist="25400" dir="5400000" algn="bl" rotWithShape="0">
              <a:srgbClr val="000000">
                <a:alpha val="15000"/>
              </a:srgbClr>
            </a:outerShdw>
          </a:effectLst>
        </p:spPr>
      </p:sp>
      <p:sp>
        <p:nvSpPr>
          <p:cNvPr id="42" name="Shape 30"/>
          <p:cNvSpPr/>
          <p:nvPr/>
        </p:nvSpPr>
        <p:spPr>
          <a:xfrm>
            <a:off x="2651760" y="4160520"/>
            <a:ext cx="384048" cy="384048"/>
          </a:xfrm>
          <a:prstGeom prst="ellipse">
            <a:avLst/>
          </a:prstGeom>
          <a:solidFill>
            <a:srgbClr val="0A3D62"/>
          </a:solidFill>
          <a:ln/>
          <a:effectLst>
            <a:outerShdw blurRad="63500" dist="25400" dir="5400000" algn="bl" rotWithShape="0">
              <a:srgbClr val="000000">
                <a:alpha val="18000"/>
              </a:srgbClr>
            </a:outerShdw>
          </a:effectLst>
        </p:spPr>
      </p:sp>
      <p:pic>
        <p:nvPicPr>
          <p:cNvPr id="43" name="Image 10" descr="icons/FaFilter_FFFFFF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2751612" y="4260372"/>
            <a:ext cx="184343" cy="184343"/>
          </a:xfrm>
          <a:prstGeom prst="rect">
            <a:avLst/>
          </a:prstGeom>
        </p:spPr>
      </p:pic>
      <p:sp>
        <p:nvSpPr>
          <p:cNvPr id="44" name="Text 31"/>
          <p:cNvSpPr/>
          <p:nvPr/>
        </p:nvSpPr>
        <p:spPr>
          <a:xfrm>
            <a:off x="3108960" y="3931920"/>
            <a:ext cx="1207008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1C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10. Feature Selection</a:t>
            </a:r>
            <a:endParaRPr lang="en-US" sz="950" dirty="0"/>
          </a:p>
        </p:txBody>
      </p:sp>
      <p:sp>
        <p:nvSpPr>
          <p:cNvPr id="45" name="Shape 32"/>
          <p:cNvSpPr/>
          <p:nvPr/>
        </p:nvSpPr>
        <p:spPr>
          <a:xfrm>
            <a:off x="4544568" y="3886200"/>
            <a:ext cx="1920240" cy="932688"/>
          </a:xfrm>
          <a:prstGeom prst="roundRect">
            <a:avLst>
              <a:gd name="adj" fmla="val 7843"/>
            </a:avLst>
          </a:prstGeom>
          <a:solidFill>
            <a:srgbClr val="F4F8FA"/>
          </a:solidFill>
          <a:ln/>
          <a:effectLst>
            <a:outerShdw blurRad="76200" dist="25400" dir="5400000" algn="bl" rotWithShape="0">
              <a:srgbClr val="000000">
                <a:alpha val="15000"/>
              </a:srgbClr>
            </a:outerShdw>
          </a:effectLst>
        </p:spPr>
      </p:sp>
      <p:sp>
        <p:nvSpPr>
          <p:cNvPr id="46" name="Shape 33"/>
          <p:cNvSpPr/>
          <p:nvPr/>
        </p:nvSpPr>
        <p:spPr>
          <a:xfrm>
            <a:off x="4672584" y="4160520"/>
            <a:ext cx="384048" cy="384048"/>
          </a:xfrm>
          <a:prstGeom prst="ellipse">
            <a:avLst/>
          </a:prstGeom>
          <a:solidFill>
            <a:srgbClr val="0A3D62"/>
          </a:solidFill>
          <a:ln/>
          <a:effectLst>
            <a:outerShdw blurRad="63500" dist="25400" dir="5400000" algn="bl" rotWithShape="0">
              <a:srgbClr val="000000">
                <a:alpha val="18000"/>
              </a:srgbClr>
            </a:outerShdw>
          </a:effectLst>
        </p:spPr>
      </p:sp>
      <p:pic>
        <p:nvPicPr>
          <p:cNvPr id="47" name="Image 11" descr="icons/FaRandom_FFFFFF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4772436" y="4260372"/>
            <a:ext cx="184343" cy="184343"/>
          </a:xfrm>
          <a:prstGeom prst="rect">
            <a:avLst/>
          </a:prstGeom>
        </p:spPr>
      </p:pic>
      <p:sp>
        <p:nvSpPr>
          <p:cNvPr id="48" name="Text 34"/>
          <p:cNvSpPr/>
          <p:nvPr/>
        </p:nvSpPr>
        <p:spPr>
          <a:xfrm>
            <a:off x="5129784" y="3931920"/>
            <a:ext cx="1207008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1C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11. Data Splitting (Train/Test)</a:t>
            </a:r>
            <a:endParaRPr lang="en-US" sz="950" dirty="0"/>
          </a:p>
        </p:txBody>
      </p:sp>
      <p:sp>
        <p:nvSpPr>
          <p:cNvPr id="49" name="Shape 35"/>
          <p:cNvSpPr/>
          <p:nvPr/>
        </p:nvSpPr>
        <p:spPr>
          <a:xfrm>
            <a:off x="6565392" y="3886200"/>
            <a:ext cx="1920240" cy="932688"/>
          </a:xfrm>
          <a:prstGeom prst="roundRect">
            <a:avLst>
              <a:gd name="adj" fmla="val 7843"/>
            </a:avLst>
          </a:prstGeom>
          <a:solidFill>
            <a:srgbClr val="F4F8FA"/>
          </a:solidFill>
          <a:ln/>
          <a:effectLst>
            <a:outerShdw blurRad="76200" dist="25400" dir="5400000" algn="bl" rotWithShape="0">
              <a:srgbClr val="000000">
                <a:alpha val="15000"/>
              </a:srgbClr>
            </a:outerShdw>
          </a:effectLst>
        </p:spPr>
      </p:sp>
      <p:sp>
        <p:nvSpPr>
          <p:cNvPr id="50" name="Shape 36"/>
          <p:cNvSpPr/>
          <p:nvPr/>
        </p:nvSpPr>
        <p:spPr>
          <a:xfrm>
            <a:off x="6693408" y="4160520"/>
            <a:ext cx="384048" cy="384048"/>
          </a:xfrm>
          <a:prstGeom prst="ellipse">
            <a:avLst/>
          </a:prstGeom>
          <a:solidFill>
            <a:srgbClr val="0A3D62"/>
          </a:solidFill>
          <a:ln/>
          <a:effectLst>
            <a:outerShdw blurRad="63500" dist="25400" dir="5400000" algn="bl" rotWithShape="0">
              <a:srgbClr val="000000">
                <a:alpha val="18000"/>
              </a:srgbClr>
            </a:outerShdw>
          </a:effectLst>
        </p:spPr>
      </p:sp>
      <p:pic>
        <p:nvPicPr>
          <p:cNvPr id="51" name="Image 12" descr="icons/FaSave_FFFFFF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793260" y="4260372"/>
            <a:ext cx="184343" cy="184343"/>
          </a:xfrm>
          <a:prstGeom prst="rect">
            <a:avLst/>
          </a:prstGeom>
        </p:spPr>
      </p:pic>
      <p:sp>
        <p:nvSpPr>
          <p:cNvPr id="52" name="Text 37"/>
          <p:cNvSpPr/>
          <p:nvPr/>
        </p:nvSpPr>
        <p:spPr>
          <a:xfrm>
            <a:off x="7150608" y="3931920"/>
            <a:ext cx="1207008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1C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12. Saving Preprocessed Dataset</a:t>
            </a:r>
            <a:endParaRPr lang="en-US" sz="95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bg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02920" y="786384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5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VISUALISATION  •  DASHBOARD 1 OF 7</a:t>
            </a:r>
            <a:endParaRPr lang="en-US" sz="1100" dirty="0"/>
          </a:p>
        </p:txBody>
      </p:sp>
      <p:sp>
        <p:nvSpPr>
          <p:cNvPr id="4" name="Text 1"/>
          <p:cNvSpPr/>
          <p:nvPr/>
        </p:nvSpPr>
        <p:spPr>
          <a:xfrm>
            <a:off x="502920" y="1033272"/>
            <a:ext cx="5394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900" b="1" dirty="0">
                <a:solidFill>
                  <a:srgbClr val="0A3D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Network Traffic &amp; Protocol Overview</a:t>
            </a:r>
            <a:endParaRPr lang="en-US" sz="1900" dirty="0"/>
          </a:p>
        </p:txBody>
      </p:sp>
      <p:sp>
        <p:nvSpPr>
          <p:cNvPr id="5" name="Shape 2"/>
          <p:cNvSpPr/>
          <p:nvPr/>
        </p:nvSpPr>
        <p:spPr>
          <a:xfrm>
            <a:off x="310896" y="1664208"/>
            <a:ext cx="5458968" cy="3236976"/>
          </a:xfrm>
          <a:prstGeom prst="roundRect">
            <a:avLst>
              <a:gd name="adj" fmla="val 1695"/>
            </a:avLst>
          </a:prstGeom>
          <a:solidFill>
            <a:srgbClr val="0D1B2A"/>
          </a:solidFill>
          <a:ln/>
          <a:effectLst>
            <a:outerShdw blurRad="76200" dist="25400" dir="5400000" algn="bl" rotWithShape="0">
              <a:srgbClr val="000000">
                <a:alpha val="15000"/>
              </a:srgbClr>
            </a:outerShdw>
          </a:effectLst>
        </p:spPr>
      </p:sp>
      <p:pic>
        <p:nvPicPr>
          <p:cNvPr id="6" name="Image 1" descr="assets/dash1_main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365760" y="1719072"/>
            <a:ext cx="5349240" cy="3127248"/>
          </a:xfrm>
          <a:prstGeom prst="rect">
            <a:avLst/>
          </a:prstGeom>
        </p:spPr>
      </p:pic>
      <p:pic>
        <p:nvPicPr>
          <p:cNvPr id="7" name="Image 2" descr="assets/dash1_side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5989320" y="1234440"/>
            <a:ext cx="2651760" cy="361188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bg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02920" y="786384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5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VISUALISATION  •  DASHBOARD 2 OF 7</a:t>
            </a:r>
            <a:endParaRPr lang="en-US" sz="1100" dirty="0"/>
          </a:p>
        </p:txBody>
      </p:sp>
      <p:sp>
        <p:nvSpPr>
          <p:cNvPr id="4" name="Text 1"/>
          <p:cNvSpPr/>
          <p:nvPr/>
        </p:nvSpPr>
        <p:spPr>
          <a:xfrm>
            <a:off x="502920" y="1033272"/>
            <a:ext cx="5394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900" b="1" dirty="0">
                <a:solidFill>
                  <a:srgbClr val="0A3D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Threat Intelligence &amp; Incident Severity</a:t>
            </a:r>
            <a:endParaRPr lang="en-US" sz="1900" dirty="0"/>
          </a:p>
        </p:txBody>
      </p:sp>
      <p:sp>
        <p:nvSpPr>
          <p:cNvPr id="5" name="Shape 2"/>
          <p:cNvSpPr/>
          <p:nvPr/>
        </p:nvSpPr>
        <p:spPr>
          <a:xfrm>
            <a:off x="310896" y="1664208"/>
            <a:ext cx="5458968" cy="3236976"/>
          </a:xfrm>
          <a:prstGeom prst="roundRect">
            <a:avLst>
              <a:gd name="adj" fmla="val 1695"/>
            </a:avLst>
          </a:prstGeom>
          <a:solidFill>
            <a:srgbClr val="0D1B2A"/>
          </a:solidFill>
          <a:ln/>
          <a:effectLst>
            <a:outerShdw blurRad="76200" dist="25400" dir="5400000" algn="bl" rotWithShape="0">
              <a:srgbClr val="000000">
                <a:alpha val="15000"/>
              </a:srgbClr>
            </a:outerShdw>
          </a:effectLst>
        </p:spPr>
      </p:sp>
      <p:pic>
        <p:nvPicPr>
          <p:cNvPr id="6" name="Image 1" descr="assets/dash2_main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365760" y="1719072"/>
            <a:ext cx="5349240" cy="3127248"/>
          </a:xfrm>
          <a:prstGeom prst="rect">
            <a:avLst/>
          </a:prstGeom>
        </p:spPr>
      </p:pic>
      <p:pic>
        <p:nvPicPr>
          <p:cNvPr id="7" name="Image 2" descr="assets/dash2_side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5989320" y="1234440"/>
            <a:ext cx="2651760" cy="361188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bg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02920" y="786384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5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VISUALISATION  •  DASHBOARD 3 OF 7</a:t>
            </a:r>
            <a:endParaRPr lang="en-US" sz="1100" dirty="0"/>
          </a:p>
        </p:txBody>
      </p:sp>
      <p:sp>
        <p:nvSpPr>
          <p:cNvPr id="4" name="Text 1"/>
          <p:cNvSpPr/>
          <p:nvPr/>
        </p:nvSpPr>
        <p:spPr>
          <a:xfrm>
            <a:off x="502920" y="1033272"/>
            <a:ext cx="5394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900" b="1" dirty="0">
                <a:solidFill>
                  <a:srgbClr val="0A3D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Protocol &amp; Action Behaviour Analysis</a:t>
            </a:r>
            <a:endParaRPr lang="en-US" sz="1900" dirty="0"/>
          </a:p>
        </p:txBody>
      </p:sp>
      <p:sp>
        <p:nvSpPr>
          <p:cNvPr id="5" name="Shape 2"/>
          <p:cNvSpPr/>
          <p:nvPr/>
        </p:nvSpPr>
        <p:spPr>
          <a:xfrm>
            <a:off x="310896" y="1664208"/>
            <a:ext cx="5458968" cy="3236976"/>
          </a:xfrm>
          <a:prstGeom prst="roundRect">
            <a:avLst>
              <a:gd name="adj" fmla="val 1695"/>
            </a:avLst>
          </a:prstGeom>
          <a:solidFill>
            <a:srgbClr val="0D1B2A"/>
          </a:solidFill>
          <a:ln/>
          <a:effectLst>
            <a:outerShdw blurRad="76200" dist="25400" dir="5400000" algn="bl" rotWithShape="0">
              <a:srgbClr val="000000">
                <a:alpha val="15000"/>
              </a:srgbClr>
            </a:outerShdw>
          </a:effectLst>
        </p:spPr>
      </p:sp>
      <p:pic>
        <p:nvPicPr>
          <p:cNvPr id="6" name="Image 1" descr="assets/dash3_main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365760" y="1719072"/>
            <a:ext cx="5349240" cy="3127248"/>
          </a:xfrm>
          <a:prstGeom prst="rect">
            <a:avLst/>
          </a:prstGeom>
        </p:spPr>
      </p:pic>
      <p:pic>
        <p:nvPicPr>
          <p:cNvPr id="7" name="Image 2" descr="assets/dash3_side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5989320" y="1234440"/>
            <a:ext cx="2651760" cy="361188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bg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02920" y="786384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5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VISUALISATION  •  DASHBOARD 4 OF 7</a:t>
            </a:r>
            <a:endParaRPr lang="en-US" sz="1100" dirty="0"/>
          </a:p>
        </p:txBody>
      </p:sp>
      <p:sp>
        <p:nvSpPr>
          <p:cNvPr id="4" name="Text 1"/>
          <p:cNvSpPr/>
          <p:nvPr/>
        </p:nvSpPr>
        <p:spPr>
          <a:xfrm>
            <a:off x="502920" y="1033272"/>
            <a:ext cx="5394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900" b="1" dirty="0">
                <a:solidFill>
                  <a:srgbClr val="0A3D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Severity &amp; Incident Urgency Analysis</a:t>
            </a:r>
            <a:endParaRPr lang="en-US" sz="1900" dirty="0"/>
          </a:p>
        </p:txBody>
      </p:sp>
      <p:sp>
        <p:nvSpPr>
          <p:cNvPr id="5" name="Shape 2"/>
          <p:cNvSpPr/>
          <p:nvPr/>
        </p:nvSpPr>
        <p:spPr>
          <a:xfrm>
            <a:off x="310896" y="1664208"/>
            <a:ext cx="5458968" cy="3236976"/>
          </a:xfrm>
          <a:prstGeom prst="roundRect">
            <a:avLst>
              <a:gd name="adj" fmla="val 1695"/>
            </a:avLst>
          </a:prstGeom>
          <a:solidFill>
            <a:srgbClr val="0D1B2A"/>
          </a:solidFill>
          <a:ln/>
          <a:effectLst>
            <a:outerShdw blurRad="76200" dist="25400" dir="5400000" algn="bl" rotWithShape="0">
              <a:srgbClr val="000000">
                <a:alpha val="15000"/>
              </a:srgbClr>
            </a:outerShdw>
          </a:effectLst>
        </p:spPr>
      </p:sp>
      <p:pic>
        <p:nvPicPr>
          <p:cNvPr id="6" name="Image 1" descr="assets/dash4_main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365760" y="1719072"/>
            <a:ext cx="5349240" cy="3127248"/>
          </a:xfrm>
          <a:prstGeom prst="rect">
            <a:avLst/>
          </a:prstGeom>
        </p:spPr>
      </p:pic>
      <p:pic>
        <p:nvPicPr>
          <p:cNvPr id="7" name="Image 2" descr="assets/dash4_side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5989320" y="1234440"/>
            <a:ext cx="2651760" cy="361188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bg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02920" y="786384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5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VISUALISATION  •  DASHBOARD 5 OF 7</a:t>
            </a:r>
            <a:endParaRPr lang="en-US" sz="1100" dirty="0"/>
          </a:p>
        </p:txBody>
      </p:sp>
      <p:sp>
        <p:nvSpPr>
          <p:cNvPr id="4" name="Text 1"/>
          <p:cNvSpPr/>
          <p:nvPr/>
        </p:nvSpPr>
        <p:spPr>
          <a:xfrm>
            <a:off x="502920" y="1033272"/>
            <a:ext cx="5394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900" b="1" dirty="0">
                <a:solidFill>
                  <a:srgbClr val="0A3D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Source &amp; Destination Network Analysis</a:t>
            </a:r>
            <a:endParaRPr lang="en-US" sz="1900" dirty="0"/>
          </a:p>
        </p:txBody>
      </p:sp>
      <p:sp>
        <p:nvSpPr>
          <p:cNvPr id="5" name="Shape 2"/>
          <p:cNvSpPr/>
          <p:nvPr/>
        </p:nvSpPr>
        <p:spPr>
          <a:xfrm>
            <a:off x="310896" y="1664208"/>
            <a:ext cx="5458968" cy="3236976"/>
          </a:xfrm>
          <a:prstGeom prst="roundRect">
            <a:avLst>
              <a:gd name="adj" fmla="val 1695"/>
            </a:avLst>
          </a:prstGeom>
          <a:solidFill>
            <a:srgbClr val="0D1B2A"/>
          </a:solidFill>
          <a:ln/>
          <a:effectLst>
            <a:outerShdw blurRad="76200" dist="25400" dir="5400000" algn="bl" rotWithShape="0">
              <a:srgbClr val="000000">
                <a:alpha val="15000"/>
              </a:srgbClr>
            </a:outerShdw>
          </a:effectLst>
        </p:spPr>
      </p:sp>
      <p:pic>
        <p:nvPicPr>
          <p:cNvPr id="6" name="Image 1" descr="assets/dash5_main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365760" y="1719072"/>
            <a:ext cx="5349240" cy="3127248"/>
          </a:xfrm>
          <a:prstGeom prst="rect">
            <a:avLst/>
          </a:prstGeom>
        </p:spPr>
      </p:pic>
      <p:pic>
        <p:nvPicPr>
          <p:cNvPr id="7" name="Image 2" descr="assets/dash5_side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5989320" y="1234440"/>
            <a:ext cx="2651760" cy="361188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bg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02920" y="786384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5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VISUALISATION  •  DASHBOARD 6 OF 7</a:t>
            </a:r>
            <a:endParaRPr lang="en-US" sz="1100" dirty="0"/>
          </a:p>
        </p:txBody>
      </p:sp>
      <p:sp>
        <p:nvSpPr>
          <p:cNvPr id="4" name="Text 1"/>
          <p:cNvSpPr/>
          <p:nvPr/>
        </p:nvSpPr>
        <p:spPr>
          <a:xfrm>
            <a:off x="502920" y="1033272"/>
            <a:ext cx="5394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900" b="1" dirty="0">
                <a:solidFill>
                  <a:srgbClr val="0A3D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Volume &amp; Exfiltration Risk</a:t>
            </a:r>
            <a:endParaRPr lang="en-US" sz="1900" dirty="0"/>
          </a:p>
        </p:txBody>
      </p:sp>
      <p:sp>
        <p:nvSpPr>
          <p:cNvPr id="5" name="Shape 2"/>
          <p:cNvSpPr/>
          <p:nvPr/>
        </p:nvSpPr>
        <p:spPr>
          <a:xfrm>
            <a:off x="310896" y="1664208"/>
            <a:ext cx="5458968" cy="3236976"/>
          </a:xfrm>
          <a:prstGeom prst="roundRect">
            <a:avLst>
              <a:gd name="adj" fmla="val 1695"/>
            </a:avLst>
          </a:prstGeom>
          <a:solidFill>
            <a:srgbClr val="0D1B2A"/>
          </a:solidFill>
          <a:ln/>
          <a:effectLst>
            <a:outerShdw blurRad="76200" dist="25400" dir="5400000" algn="bl" rotWithShape="0">
              <a:srgbClr val="000000">
                <a:alpha val="15000"/>
              </a:srgbClr>
            </a:outerShdw>
          </a:effectLst>
        </p:spPr>
      </p:sp>
      <p:pic>
        <p:nvPicPr>
          <p:cNvPr id="6" name="Image 1" descr="assets/dash6_main.jp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365760" y="1719072"/>
            <a:ext cx="5349240" cy="3127248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5989320" y="1234440"/>
            <a:ext cx="2651760" cy="3611880"/>
          </a:xfrm>
          <a:prstGeom prst="roundRect">
            <a:avLst>
              <a:gd name="adj" fmla="val 3448"/>
            </a:avLst>
          </a:prstGeom>
          <a:solidFill>
            <a:srgbClr val="0D1B2A"/>
          </a:solidFill>
          <a:ln/>
          <a:effectLst>
            <a:outerShdw blurRad="76200" dist="25400" dir="5400000" algn="bl" rotWithShape="0">
              <a:srgbClr val="000000">
                <a:alpha val="15000"/>
              </a:srgbClr>
            </a:outerShdw>
          </a:effectLst>
        </p:spPr>
      </p:sp>
      <p:sp>
        <p:nvSpPr>
          <p:cNvPr id="8" name="Shape 4"/>
          <p:cNvSpPr/>
          <p:nvPr/>
        </p:nvSpPr>
        <p:spPr>
          <a:xfrm>
            <a:off x="6190488" y="1417320"/>
            <a:ext cx="365760" cy="365760"/>
          </a:xfrm>
          <a:prstGeom prst="ellipse">
            <a:avLst/>
          </a:prstGeom>
          <a:solidFill>
            <a:srgbClr val="2AB7CA"/>
          </a:solidFill>
          <a:ln/>
          <a:effectLst>
            <a:outerShdw blurRad="63500" dist="25400" dir="5400000" algn="bl" rotWithShape="0">
              <a:srgbClr val="000000">
                <a:alpha val="18000"/>
              </a:srgbClr>
            </a:outerShdw>
          </a:effectLst>
        </p:spPr>
      </p:sp>
      <p:pic>
        <p:nvPicPr>
          <p:cNvPr id="9" name="Image 2" descr="icons/FaLightbulb_FFFFFF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85586" y="1512418"/>
            <a:ext cx="175565" cy="175565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6675120" y="141732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INSIGHTS</a:t>
            </a:r>
            <a:endParaRPr lang="en-US" sz="1400" dirty="0"/>
          </a:p>
        </p:txBody>
      </p:sp>
      <p:sp>
        <p:nvSpPr>
          <p:cNvPr id="11" name="Shape 6"/>
          <p:cNvSpPr/>
          <p:nvPr/>
        </p:nvSpPr>
        <p:spPr>
          <a:xfrm>
            <a:off x="6190488" y="1892808"/>
            <a:ext cx="2249424" cy="0"/>
          </a:xfrm>
          <a:prstGeom prst="line">
            <a:avLst/>
          </a:prstGeom>
          <a:noFill/>
          <a:ln w="9525">
            <a:solidFill>
              <a:srgbClr val="2E4057"/>
            </a:solidFill>
            <a:prstDash val="solid"/>
          </a:ln>
        </p:spPr>
      </p:sp>
      <p:sp>
        <p:nvSpPr>
          <p:cNvPr id="12" name="Shape 7"/>
          <p:cNvSpPr/>
          <p:nvPr/>
        </p:nvSpPr>
        <p:spPr>
          <a:xfrm>
            <a:off x="6190488" y="2029968"/>
            <a:ext cx="310896" cy="310896"/>
          </a:xfrm>
          <a:prstGeom prst="ellipse">
            <a:avLst/>
          </a:prstGeom>
          <a:solidFill>
            <a:srgbClr val="2AB7CA"/>
          </a:solidFill>
          <a:ln/>
          <a:effectLst>
            <a:outerShdw blurRad="63500" dist="25400" dir="5400000" algn="bl" rotWithShape="0">
              <a:srgbClr val="000000">
                <a:alpha val="18000"/>
              </a:srgbClr>
            </a:outerShdw>
          </a:effectLst>
        </p:spPr>
      </p:sp>
      <p:pic>
        <p:nvPicPr>
          <p:cNvPr id="13" name="Image 3" descr="icons/FaExchangeAlt_FFFFFF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71321" y="2110801"/>
            <a:ext cx="149230" cy="14923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6611112" y="1984248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7,678 High-Volume Transfers</a:t>
            </a:r>
            <a:endParaRPr lang="en-US" sz="1150" dirty="0"/>
          </a:p>
        </p:txBody>
      </p:sp>
      <p:sp>
        <p:nvSpPr>
          <p:cNvPr id="15" name="Text 9"/>
          <p:cNvSpPr/>
          <p:nvPr/>
        </p:nvSpPr>
        <p:spPr>
          <a:xfrm>
            <a:off x="6611112" y="2231136"/>
            <a:ext cx="1828800" cy="2852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850" dirty="0">
                <a:solidFill>
                  <a:srgbClr val="B9C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Malicious transfers in the high traffic band.</a:t>
            </a:r>
            <a:endParaRPr lang="en-US" sz="850" dirty="0"/>
          </a:p>
        </p:txBody>
      </p:sp>
      <p:sp>
        <p:nvSpPr>
          <p:cNvPr id="16" name="Shape 10"/>
          <p:cNvSpPr/>
          <p:nvPr/>
        </p:nvSpPr>
        <p:spPr>
          <a:xfrm>
            <a:off x="6190488" y="2580437"/>
            <a:ext cx="310896" cy="310896"/>
          </a:xfrm>
          <a:prstGeom prst="ellipse">
            <a:avLst/>
          </a:prstGeom>
          <a:solidFill>
            <a:srgbClr val="2AB7CA"/>
          </a:solidFill>
          <a:ln/>
          <a:effectLst>
            <a:outerShdw blurRad="63500" dist="25400" dir="5400000" algn="bl" rotWithShape="0">
              <a:srgbClr val="000000">
                <a:alpha val="18000"/>
              </a:srgbClr>
            </a:outerShdw>
          </a:effectLst>
        </p:spPr>
      </p:sp>
      <p:pic>
        <p:nvPicPr>
          <p:cNvPr id="17" name="Image 4" descr="icons/FaChartPie_FFFFFF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71321" y="2661270"/>
            <a:ext cx="149230" cy="149230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6611112" y="2534717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25.20% Malicious Rate</a:t>
            </a:r>
            <a:endParaRPr lang="en-US" sz="1150" dirty="0"/>
          </a:p>
        </p:txBody>
      </p:sp>
      <p:sp>
        <p:nvSpPr>
          <p:cNvPr id="19" name="Text 12"/>
          <p:cNvSpPr/>
          <p:nvPr/>
        </p:nvSpPr>
        <p:spPr>
          <a:xfrm>
            <a:off x="6611112" y="2781605"/>
            <a:ext cx="1828800" cy="2852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850" dirty="0">
                <a:solidFill>
                  <a:srgbClr val="B9C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 of high-volume traffic that is malicious.</a:t>
            </a:r>
            <a:endParaRPr lang="en-US" sz="850" dirty="0"/>
          </a:p>
        </p:txBody>
      </p:sp>
      <p:sp>
        <p:nvSpPr>
          <p:cNvPr id="20" name="Shape 13"/>
          <p:cNvSpPr/>
          <p:nvPr/>
        </p:nvSpPr>
        <p:spPr>
          <a:xfrm>
            <a:off x="6190488" y="3130906"/>
            <a:ext cx="310896" cy="310896"/>
          </a:xfrm>
          <a:prstGeom prst="ellipse">
            <a:avLst/>
          </a:prstGeom>
          <a:solidFill>
            <a:srgbClr val="2AB7CA"/>
          </a:solidFill>
          <a:ln/>
          <a:effectLst>
            <a:outerShdw blurRad="63500" dist="25400" dir="5400000" algn="bl" rotWithShape="0">
              <a:srgbClr val="000000">
                <a:alpha val="18000"/>
              </a:srgbClr>
            </a:outerShdw>
          </a:effectLst>
        </p:spPr>
      </p:sp>
      <p:pic>
        <p:nvPicPr>
          <p:cNvPr id="21" name="Image 5" descr="icons/FaDatabase_FFFFFF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271321" y="3211739"/>
            <a:ext cx="149230" cy="149230"/>
          </a:xfrm>
          <a:prstGeom prst="rect">
            <a:avLst/>
          </a:prstGeom>
        </p:spPr>
      </p:pic>
      <p:sp>
        <p:nvSpPr>
          <p:cNvPr id="22" name="Text 14"/>
          <p:cNvSpPr/>
          <p:nvPr/>
        </p:nvSpPr>
        <p:spPr>
          <a:xfrm>
            <a:off x="6611112" y="3085186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25.04K Avg Bytes / Event</a:t>
            </a:r>
            <a:endParaRPr lang="en-US" sz="1150" dirty="0"/>
          </a:p>
        </p:txBody>
      </p:sp>
      <p:sp>
        <p:nvSpPr>
          <p:cNvPr id="23" name="Text 15"/>
          <p:cNvSpPr/>
          <p:nvPr/>
        </p:nvSpPr>
        <p:spPr>
          <a:xfrm>
            <a:off x="6611112" y="3332074"/>
            <a:ext cx="1828800" cy="2852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850" dirty="0">
                <a:solidFill>
                  <a:srgbClr val="B9C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bytes per malicious event.</a:t>
            </a:r>
            <a:endParaRPr lang="en-US" sz="850" dirty="0"/>
          </a:p>
        </p:txBody>
      </p:sp>
      <p:sp>
        <p:nvSpPr>
          <p:cNvPr id="24" name="Shape 16"/>
          <p:cNvSpPr/>
          <p:nvPr/>
        </p:nvSpPr>
        <p:spPr>
          <a:xfrm>
            <a:off x="6190488" y="3681374"/>
            <a:ext cx="310896" cy="310896"/>
          </a:xfrm>
          <a:prstGeom prst="ellipse">
            <a:avLst/>
          </a:prstGeom>
          <a:solidFill>
            <a:srgbClr val="2AB7CA"/>
          </a:solidFill>
          <a:ln/>
          <a:effectLst>
            <a:outerShdw blurRad="63500" dist="25400" dir="5400000" algn="bl" rotWithShape="0">
              <a:srgbClr val="000000">
                <a:alpha val="18000"/>
              </a:srgbClr>
            </a:outerShdw>
          </a:effectLst>
        </p:spPr>
      </p:sp>
      <p:pic>
        <p:nvPicPr>
          <p:cNvPr id="25" name="Image 6" descr="icons/FaChartLine_FFFFFF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271321" y="3762207"/>
            <a:ext cx="149230" cy="149230"/>
          </a:xfrm>
          <a:prstGeom prst="rect">
            <a:avLst/>
          </a:prstGeom>
        </p:spPr>
      </p:pic>
      <p:sp>
        <p:nvSpPr>
          <p:cNvPr id="26" name="Text 17"/>
          <p:cNvSpPr/>
          <p:nvPr/>
        </p:nvSpPr>
        <p:spPr>
          <a:xfrm>
            <a:off x="6611112" y="3635654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Stable Weekly Volume</a:t>
            </a:r>
            <a:endParaRPr lang="en-US" sz="1150" dirty="0"/>
          </a:p>
        </p:txBody>
      </p:sp>
      <p:sp>
        <p:nvSpPr>
          <p:cNvPr id="27" name="Text 18"/>
          <p:cNvSpPr/>
          <p:nvPr/>
        </p:nvSpPr>
        <p:spPr>
          <a:xfrm>
            <a:off x="6611112" y="3882542"/>
            <a:ext cx="1828800" cy="2852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850" dirty="0">
                <a:solidFill>
                  <a:srgbClr val="B9C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Transfers stay steady near 2.86-2.89 GB.</a:t>
            </a:r>
            <a:endParaRPr lang="en-US" sz="850" dirty="0"/>
          </a:p>
        </p:txBody>
      </p:sp>
      <p:sp>
        <p:nvSpPr>
          <p:cNvPr id="28" name="Shape 19"/>
          <p:cNvSpPr/>
          <p:nvPr/>
        </p:nvSpPr>
        <p:spPr>
          <a:xfrm>
            <a:off x="6190488" y="4231843"/>
            <a:ext cx="310896" cy="310896"/>
          </a:xfrm>
          <a:prstGeom prst="ellipse">
            <a:avLst/>
          </a:prstGeom>
          <a:solidFill>
            <a:srgbClr val="2AB7CA"/>
          </a:solidFill>
          <a:ln/>
          <a:effectLst>
            <a:outerShdw blurRad="63500" dist="25400" dir="5400000" algn="bl" rotWithShape="0">
              <a:srgbClr val="000000">
                <a:alpha val="18000"/>
              </a:srgbClr>
            </a:outerShdw>
          </a:effectLst>
        </p:spPr>
      </p:sp>
      <p:pic>
        <p:nvPicPr>
          <p:cNvPr id="29" name="Image 7" descr="icons/FaShieldAlt_FFFFFF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271321" y="4312676"/>
            <a:ext cx="149230" cy="149230"/>
          </a:xfrm>
          <a:prstGeom prst="rect">
            <a:avLst/>
          </a:prstGeom>
        </p:spPr>
      </p:pic>
      <p:sp>
        <p:nvSpPr>
          <p:cNvPr id="30" name="Text 20"/>
          <p:cNvSpPr/>
          <p:nvPr/>
        </p:nvSpPr>
        <p:spPr>
          <a:xfrm>
            <a:off x="6611112" y="4186123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Mostly Benign Traffic</a:t>
            </a:r>
            <a:endParaRPr lang="en-US" sz="1150" dirty="0"/>
          </a:p>
        </p:txBody>
      </p:sp>
      <p:sp>
        <p:nvSpPr>
          <p:cNvPr id="31" name="Text 21"/>
          <p:cNvSpPr/>
          <p:nvPr/>
        </p:nvSpPr>
        <p:spPr>
          <a:xfrm>
            <a:off x="6611112" y="4433011"/>
            <a:ext cx="1828800" cy="2852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850" dirty="0">
                <a:solidFill>
                  <a:srgbClr val="B9C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Malicious traffic is a small minority overall.</a:t>
            </a:r>
            <a:endParaRPr lang="en-US" sz="85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bg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02920" y="786384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5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VISUALISATION  •  DASHBOARD 7 OF 7</a:t>
            </a:r>
            <a:endParaRPr lang="en-US" sz="1100" dirty="0"/>
          </a:p>
        </p:txBody>
      </p:sp>
      <p:sp>
        <p:nvSpPr>
          <p:cNvPr id="4" name="Text 1"/>
          <p:cNvSpPr/>
          <p:nvPr/>
        </p:nvSpPr>
        <p:spPr>
          <a:xfrm>
            <a:off x="502920" y="1033272"/>
            <a:ext cx="5394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900" b="1" dirty="0">
                <a:solidFill>
                  <a:srgbClr val="0A3D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Overall Threat Detection Performance</a:t>
            </a:r>
            <a:endParaRPr lang="en-US" sz="1900" dirty="0"/>
          </a:p>
        </p:txBody>
      </p:sp>
      <p:sp>
        <p:nvSpPr>
          <p:cNvPr id="5" name="Shape 2"/>
          <p:cNvSpPr/>
          <p:nvPr/>
        </p:nvSpPr>
        <p:spPr>
          <a:xfrm>
            <a:off x="310896" y="1664208"/>
            <a:ext cx="5458968" cy="3236976"/>
          </a:xfrm>
          <a:prstGeom prst="roundRect">
            <a:avLst>
              <a:gd name="adj" fmla="val 1695"/>
            </a:avLst>
          </a:prstGeom>
          <a:solidFill>
            <a:srgbClr val="0D1B2A"/>
          </a:solidFill>
          <a:ln/>
          <a:effectLst>
            <a:outerShdw blurRad="76200" dist="25400" dir="5400000" algn="bl" rotWithShape="0">
              <a:srgbClr val="000000">
                <a:alpha val="15000"/>
              </a:srgbClr>
            </a:outerShdw>
          </a:effectLst>
        </p:spPr>
      </p:sp>
      <p:pic>
        <p:nvPicPr>
          <p:cNvPr id="6" name="Image 1" descr="assets/dash7_main.jp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365760" y="1719072"/>
            <a:ext cx="5349240" cy="3127248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5989320" y="1234440"/>
            <a:ext cx="2651760" cy="3611880"/>
          </a:xfrm>
          <a:prstGeom prst="roundRect">
            <a:avLst>
              <a:gd name="adj" fmla="val 3448"/>
            </a:avLst>
          </a:prstGeom>
          <a:solidFill>
            <a:srgbClr val="0D1B2A"/>
          </a:solidFill>
          <a:ln/>
          <a:effectLst>
            <a:outerShdw blurRad="76200" dist="25400" dir="5400000" algn="bl" rotWithShape="0">
              <a:srgbClr val="000000">
                <a:alpha val="15000"/>
              </a:srgbClr>
            </a:outerShdw>
          </a:effectLst>
        </p:spPr>
      </p:sp>
      <p:sp>
        <p:nvSpPr>
          <p:cNvPr id="8" name="Shape 4"/>
          <p:cNvSpPr/>
          <p:nvPr/>
        </p:nvSpPr>
        <p:spPr>
          <a:xfrm>
            <a:off x="6190488" y="1417320"/>
            <a:ext cx="365760" cy="365760"/>
          </a:xfrm>
          <a:prstGeom prst="ellipse">
            <a:avLst/>
          </a:prstGeom>
          <a:solidFill>
            <a:srgbClr val="2AB7CA"/>
          </a:solidFill>
          <a:ln/>
          <a:effectLst>
            <a:outerShdw blurRad="63500" dist="25400" dir="5400000" algn="bl" rotWithShape="0">
              <a:srgbClr val="000000">
                <a:alpha val="18000"/>
              </a:srgbClr>
            </a:outerShdw>
          </a:effectLst>
        </p:spPr>
      </p:sp>
      <p:pic>
        <p:nvPicPr>
          <p:cNvPr id="9" name="Image 2" descr="icons/FaLightbulb_FFFFFF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85586" y="1512418"/>
            <a:ext cx="175565" cy="175565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6675120" y="141732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INSIGHTS</a:t>
            </a:r>
            <a:endParaRPr lang="en-US" sz="1400" dirty="0"/>
          </a:p>
        </p:txBody>
      </p:sp>
      <p:sp>
        <p:nvSpPr>
          <p:cNvPr id="11" name="Shape 6"/>
          <p:cNvSpPr/>
          <p:nvPr/>
        </p:nvSpPr>
        <p:spPr>
          <a:xfrm>
            <a:off x="6190488" y="1892808"/>
            <a:ext cx="2249424" cy="0"/>
          </a:xfrm>
          <a:prstGeom prst="line">
            <a:avLst/>
          </a:prstGeom>
          <a:noFill/>
          <a:ln w="9525">
            <a:solidFill>
              <a:srgbClr val="2E4057"/>
            </a:solidFill>
            <a:prstDash val="solid"/>
          </a:ln>
        </p:spPr>
      </p:sp>
      <p:sp>
        <p:nvSpPr>
          <p:cNvPr id="12" name="Shape 7"/>
          <p:cNvSpPr/>
          <p:nvPr/>
        </p:nvSpPr>
        <p:spPr>
          <a:xfrm>
            <a:off x="6190488" y="2029968"/>
            <a:ext cx="310896" cy="310896"/>
          </a:xfrm>
          <a:prstGeom prst="ellipse">
            <a:avLst/>
          </a:prstGeom>
          <a:solidFill>
            <a:srgbClr val="2AB7CA"/>
          </a:solidFill>
          <a:ln/>
          <a:effectLst>
            <a:outerShdw blurRad="63500" dist="25400" dir="5400000" algn="bl" rotWithShape="0">
              <a:srgbClr val="000000">
                <a:alpha val="18000"/>
              </a:srgbClr>
            </a:outerShdw>
          </a:effectLst>
        </p:spPr>
      </p:sp>
      <p:pic>
        <p:nvPicPr>
          <p:cNvPr id="13" name="Image 3" descr="icons/FaTachometerAlt_FFFFFF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71321" y="2110801"/>
            <a:ext cx="149230" cy="14923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6611112" y="1984248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44.60 Network Risk Index</a:t>
            </a:r>
            <a:endParaRPr lang="en-US" sz="1150" dirty="0"/>
          </a:p>
        </p:txBody>
      </p:sp>
      <p:sp>
        <p:nvSpPr>
          <p:cNvPr id="15" name="Text 9"/>
          <p:cNvSpPr/>
          <p:nvPr/>
        </p:nvSpPr>
        <p:spPr>
          <a:xfrm>
            <a:off x="6611112" y="2231136"/>
            <a:ext cx="1828800" cy="2852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850" dirty="0">
                <a:solidFill>
                  <a:srgbClr val="B9C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Above the 40 threshold — elevated risk level.</a:t>
            </a:r>
            <a:endParaRPr lang="en-US" sz="850" dirty="0"/>
          </a:p>
        </p:txBody>
      </p:sp>
      <p:sp>
        <p:nvSpPr>
          <p:cNvPr id="16" name="Shape 10"/>
          <p:cNvSpPr/>
          <p:nvPr/>
        </p:nvSpPr>
        <p:spPr>
          <a:xfrm>
            <a:off x="6190488" y="2580437"/>
            <a:ext cx="310896" cy="310896"/>
          </a:xfrm>
          <a:prstGeom prst="ellipse">
            <a:avLst/>
          </a:prstGeom>
          <a:solidFill>
            <a:srgbClr val="2AB7CA"/>
          </a:solidFill>
          <a:ln/>
          <a:effectLst>
            <a:outerShdw blurRad="63500" dist="25400" dir="5400000" algn="bl" rotWithShape="0">
              <a:srgbClr val="000000">
                <a:alpha val="18000"/>
              </a:srgbClr>
            </a:outerShdw>
          </a:effectLst>
        </p:spPr>
      </p:sp>
      <p:pic>
        <p:nvPicPr>
          <p:cNvPr id="17" name="Image 4" descr="icons/FaChartLine_FFFFFF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71321" y="2661270"/>
            <a:ext cx="149230" cy="149230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6611112" y="2534717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50.11% Detection Rate</a:t>
            </a:r>
            <a:endParaRPr lang="en-US" sz="1150" dirty="0"/>
          </a:p>
        </p:txBody>
      </p:sp>
      <p:sp>
        <p:nvSpPr>
          <p:cNvPr id="19" name="Text 12"/>
          <p:cNvSpPr/>
          <p:nvPr/>
        </p:nvSpPr>
        <p:spPr>
          <a:xfrm>
            <a:off x="6611112" y="2781605"/>
            <a:ext cx="1828800" cy="2852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850" dirty="0">
                <a:solidFill>
                  <a:srgbClr val="B9C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Just over half of all traffic is detected.</a:t>
            </a:r>
            <a:endParaRPr lang="en-US" sz="850" dirty="0"/>
          </a:p>
        </p:txBody>
      </p:sp>
      <p:sp>
        <p:nvSpPr>
          <p:cNvPr id="20" name="Shape 13"/>
          <p:cNvSpPr/>
          <p:nvPr/>
        </p:nvSpPr>
        <p:spPr>
          <a:xfrm>
            <a:off x="6190488" y="3130906"/>
            <a:ext cx="310896" cy="310896"/>
          </a:xfrm>
          <a:prstGeom prst="ellipse">
            <a:avLst/>
          </a:prstGeom>
          <a:solidFill>
            <a:srgbClr val="2AB7CA"/>
          </a:solidFill>
          <a:ln/>
          <a:effectLst>
            <a:outerShdw blurRad="63500" dist="25400" dir="5400000" algn="bl" rotWithShape="0">
              <a:srgbClr val="000000">
                <a:alpha val="18000"/>
              </a:srgbClr>
            </a:outerShdw>
          </a:effectLst>
        </p:spPr>
      </p:sp>
      <p:pic>
        <p:nvPicPr>
          <p:cNvPr id="21" name="Image 5" descr="icons/FaLock_FFFFFF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271321" y="3211739"/>
            <a:ext cx="149230" cy="149230"/>
          </a:xfrm>
          <a:prstGeom prst="rect">
            <a:avLst/>
          </a:prstGeom>
        </p:spPr>
      </p:pic>
      <p:sp>
        <p:nvSpPr>
          <p:cNvPr id="22" name="Text 14"/>
          <p:cNvSpPr/>
          <p:nvPr/>
        </p:nvSpPr>
        <p:spPr>
          <a:xfrm>
            <a:off x="6611112" y="3085186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49.99% Traffic Blocked</a:t>
            </a:r>
            <a:endParaRPr lang="en-US" sz="1150" dirty="0"/>
          </a:p>
        </p:txBody>
      </p:sp>
      <p:sp>
        <p:nvSpPr>
          <p:cNvPr id="23" name="Text 15"/>
          <p:cNvSpPr/>
          <p:nvPr/>
        </p:nvSpPr>
        <p:spPr>
          <a:xfrm>
            <a:off x="6611112" y="3332074"/>
            <a:ext cx="1828800" cy="2852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850" dirty="0">
                <a:solidFill>
                  <a:srgbClr val="B9C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Nearly half of all traffic is actively blocked.</a:t>
            </a:r>
            <a:endParaRPr lang="en-US" sz="850" dirty="0"/>
          </a:p>
        </p:txBody>
      </p:sp>
      <p:sp>
        <p:nvSpPr>
          <p:cNvPr id="24" name="Shape 16"/>
          <p:cNvSpPr/>
          <p:nvPr/>
        </p:nvSpPr>
        <p:spPr>
          <a:xfrm>
            <a:off x="6190488" y="3681374"/>
            <a:ext cx="310896" cy="310896"/>
          </a:xfrm>
          <a:prstGeom prst="ellipse">
            <a:avLst/>
          </a:prstGeom>
          <a:solidFill>
            <a:srgbClr val="2AB7CA"/>
          </a:solidFill>
          <a:ln/>
          <a:effectLst>
            <a:outerShdw blurRad="63500" dist="25400" dir="5400000" algn="bl" rotWithShape="0">
              <a:srgbClr val="000000">
                <a:alpha val="18000"/>
              </a:srgbClr>
            </a:outerShdw>
          </a:effectLst>
        </p:spPr>
      </p:sp>
      <p:pic>
        <p:nvPicPr>
          <p:cNvPr id="25" name="Image 6" descr="icons/FaDatabase_FFFFFF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271321" y="3762207"/>
            <a:ext cx="149230" cy="149230"/>
          </a:xfrm>
          <a:prstGeom prst="rect">
            <a:avLst/>
          </a:prstGeom>
        </p:spPr>
      </p:pic>
      <p:sp>
        <p:nvSpPr>
          <p:cNvPr id="26" name="Text 17"/>
          <p:cNvSpPr/>
          <p:nvPr/>
        </p:nvSpPr>
        <p:spPr>
          <a:xfrm>
            <a:off x="6611112" y="3635654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1.49M Log Events</a:t>
            </a:r>
            <a:endParaRPr lang="en-US" sz="1150" dirty="0"/>
          </a:p>
        </p:txBody>
      </p:sp>
      <p:sp>
        <p:nvSpPr>
          <p:cNvPr id="27" name="Text 18"/>
          <p:cNvSpPr/>
          <p:nvPr/>
        </p:nvSpPr>
        <p:spPr>
          <a:xfrm>
            <a:off x="6611112" y="3882542"/>
            <a:ext cx="1828800" cy="2852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850" dirty="0">
                <a:solidFill>
                  <a:srgbClr val="B9C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events, incl. 15,203 critical breaches.</a:t>
            </a:r>
            <a:endParaRPr lang="en-US" sz="850" dirty="0"/>
          </a:p>
        </p:txBody>
      </p:sp>
      <p:sp>
        <p:nvSpPr>
          <p:cNvPr id="28" name="Shape 19"/>
          <p:cNvSpPr/>
          <p:nvPr/>
        </p:nvSpPr>
        <p:spPr>
          <a:xfrm>
            <a:off x="6190488" y="4231843"/>
            <a:ext cx="310896" cy="310896"/>
          </a:xfrm>
          <a:prstGeom prst="ellipse">
            <a:avLst/>
          </a:prstGeom>
          <a:solidFill>
            <a:srgbClr val="2AB7CA"/>
          </a:solidFill>
          <a:ln/>
          <a:effectLst>
            <a:outerShdw blurRad="63500" dist="25400" dir="5400000" algn="bl" rotWithShape="0">
              <a:srgbClr val="000000">
                <a:alpha val="18000"/>
              </a:srgbClr>
            </a:outerShdw>
          </a:effectLst>
        </p:spPr>
      </p:sp>
      <p:pic>
        <p:nvPicPr>
          <p:cNvPr id="29" name="Image 7" descr="icons/FaShareAlt_FFFFFF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271321" y="4312676"/>
            <a:ext cx="149230" cy="149230"/>
          </a:xfrm>
          <a:prstGeom prst="rect">
            <a:avLst/>
          </a:prstGeom>
        </p:spPr>
      </p:pic>
      <p:sp>
        <p:nvSpPr>
          <p:cNvPr id="30" name="Text 20"/>
          <p:cNvSpPr/>
          <p:nvPr/>
        </p:nvSpPr>
        <p:spPr>
          <a:xfrm>
            <a:off x="6611112" y="4186123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SSH Leads Breaches</a:t>
            </a:r>
            <a:endParaRPr lang="en-US" sz="1150" dirty="0"/>
          </a:p>
        </p:txBody>
      </p:sp>
      <p:sp>
        <p:nvSpPr>
          <p:cNvPr id="31" name="Text 21"/>
          <p:cNvSpPr/>
          <p:nvPr/>
        </p:nvSpPr>
        <p:spPr>
          <a:xfrm>
            <a:off x="6611112" y="4433011"/>
            <a:ext cx="1828800" cy="2852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850" dirty="0">
                <a:solidFill>
                  <a:srgbClr val="B9C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SSH has the highest share of critical breaches.</a:t>
            </a:r>
            <a:endParaRPr lang="en-US" sz="85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bg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02920" y="841248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0A3D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</a:t>
            </a:r>
            <a:endParaRPr lang="en-US" sz="2800" dirty="0"/>
          </a:p>
        </p:txBody>
      </p:sp>
      <p:sp>
        <p:nvSpPr>
          <p:cNvPr id="4" name="Shape 1"/>
          <p:cNvSpPr/>
          <p:nvPr/>
        </p:nvSpPr>
        <p:spPr>
          <a:xfrm>
            <a:off x="502920" y="1600200"/>
            <a:ext cx="8138160" cy="566928"/>
          </a:xfrm>
          <a:prstGeom prst="roundRect">
            <a:avLst>
              <a:gd name="adj" fmla="val 14516"/>
            </a:avLst>
          </a:prstGeom>
          <a:solidFill>
            <a:srgbClr val="F4F8FA"/>
          </a:solidFill>
          <a:ln/>
          <a:effectLst>
            <a:outerShdw blurRad="76200" dist="25400" dir="5400000" algn="bl" rotWithShape="0">
              <a:srgbClr val="000000">
                <a:alpha val="15000"/>
              </a:srgbClr>
            </a:outerShdw>
          </a:effectLst>
        </p:spPr>
      </p:sp>
      <p:sp>
        <p:nvSpPr>
          <p:cNvPr id="5" name="Shape 2"/>
          <p:cNvSpPr/>
          <p:nvPr/>
        </p:nvSpPr>
        <p:spPr>
          <a:xfrm>
            <a:off x="685800" y="1709928"/>
            <a:ext cx="347472" cy="347472"/>
          </a:xfrm>
          <a:prstGeom prst="ellipse">
            <a:avLst/>
          </a:prstGeom>
          <a:solidFill>
            <a:srgbClr val="0A3D62"/>
          </a:solidFill>
          <a:ln/>
          <a:effectLst>
            <a:outerShdw blurRad="63500" dist="25400" dir="5400000" algn="bl" rotWithShape="0">
              <a:srgbClr val="000000">
                <a:alpha val="18000"/>
              </a:srgbClr>
            </a:outerShdw>
          </a:effectLst>
        </p:spPr>
      </p:sp>
      <p:pic>
        <p:nvPicPr>
          <p:cNvPr id="6" name="Image 1" descr="icons/FaCheckCircle_FFFFF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6143" y="1800271"/>
            <a:ext cx="166787" cy="166787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234440" y="1600200"/>
            <a:ext cx="7178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C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Successfully collected the raw cybersecurity attacks dataset from Kaggle</a:t>
            </a:r>
            <a:endParaRPr lang="en-US" sz="1300" dirty="0"/>
          </a:p>
        </p:txBody>
      </p:sp>
      <p:sp>
        <p:nvSpPr>
          <p:cNvPr id="8" name="Shape 4"/>
          <p:cNvSpPr/>
          <p:nvPr/>
        </p:nvSpPr>
        <p:spPr>
          <a:xfrm>
            <a:off x="502920" y="2295144"/>
            <a:ext cx="8138160" cy="566928"/>
          </a:xfrm>
          <a:prstGeom prst="roundRect">
            <a:avLst>
              <a:gd name="adj" fmla="val 14516"/>
            </a:avLst>
          </a:prstGeom>
          <a:solidFill>
            <a:srgbClr val="F4F8FA"/>
          </a:solidFill>
          <a:ln/>
          <a:effectLst>
            <a:outerShdw blurRad="76200" dist="25400" dir="5400000" algn="bl" rotWithShape="0">
              <a:srgbClr val="000000">
                <a:alpha val="15000"/>
              </a:srgbClr>
            </a:outerShdw>
          </a:effectLst>
        </p:spPr>
      </p:sp>
      <p:sp>
        <p:nvSpPr>
          <p:cNvPr id="9" name="Shape 5"/>
          <p:cNvSpPr/>
          <p:nvPr/>
        </p:nvSpPr>
        <p:spPr>
          <a:xfrm>
            <a:off x="685800" y="2404872"/>
            <a:ext cx="347472" cy="347472"/>
          </a:xfrm>
          <a:prstGeom prst="ellipse">
            <a:avLst/>
          </a:prstGeom>
          <a:solidFill>
            <a:srgbClr val="0A3D62"/>
          </a:solidFill>
          <a:ln/>
          <a:effectLst>
            <a:outerShdw blurRad="63500" dist="25400" dir="5400000" algn="bl" rotWithShape="0">
              <a:srgbClr val="000000">
                <a:alpha val="18000"/>
              </a:srgbClr>
            </a:outerShdw>
          </a:effectLst>
        </p:spPr>
      </p:sp>
      <p:pic>
        <p:nvPicPr>
          <p:cNvPr id="10" name="Image 2" descr="icons/FaCheckCircle_FFFFF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6143" y="2495215"/>
            <a:ext cx="166787" cy="166787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1234440" y="2295144"/>
            <a:ext cx="7178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C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Understood the dataset structure, features and target column</a:t>
            </a:r>
            <a:endParaRPr lang="en-US" sz="1300" dirty="0"/>
          </a:p>
        </p:txBody>
      </p:sp>
      <p:sp>
        <p:nvSpPr>
          <p:cNvPr id="12" name="Shape 7"/>
          <p:cNvSpPr/>
          <p:nvPr/>
        </p:nvSpPr>
        <p:spPr>
          <a:xfrm>
            <a:off x="502920" y="2990088"/>
            <a:ext cx="8138160" cy="566928"/>
          </a:xfrm>
          <a:prstGeom prst="roundRect">
            <a:avLst>
              <a:gd name="adj" fmla="val 14516"/>
            </a:avLst>
          </a:prstGeom>
          <a:solidFill>
            <a:srgbClr val="F4F8FA"/>
          </a:solidFill>
          <a:ln/>
          <a:effectLst>
            <a:outerShdw blurRad="76200" dist="25400" dir="54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3" name="Shape 8"/>
          <p:cNvSpPr/>
          <p:nvPr/>
        </p:nvSpPr>
        <p:spPr>
          <a:xfrm>
            <a:off x="685800" y="3099816"/>
            <a:ext cx="347472" cy="347472"/>
          </a:xfrm>
          <a:prstGeom prst="ellipse">
            <a:avLst/>
          </a:prstGeom>
          <a:solidFill>
            <a:srgbClr val="0A3D62"/>
          </a:solidFill>
          <a:ln/>
          <a:effectLst>
            <a:outerShdw blurRad="63500" dist="25400" dir="5400000" algn="bl" rotWithShape="0">
              <a:srgbClr val="000000">
                <a:alpha val="18000"/>
              </a:srgbClr>
            </a:outerShdw>
          </a:effectLst>
        </p:spPr>
      </p:sp>
      <p:pic>
        <p:nvPicPr>
          <p:cNvPr id="14" name="Image 3" descr="icons/FaCheckCircle_FFFFF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6143" y="3190159"/>
            <a:ext cx="166787" cy="166787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1234440" y="2990088"/>
            <a:ext cx="7178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C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Connected and verified the dataset within Power BI</a:t>
            </a:r>
            <a:endParaRPr lang="en-US" sz="1300" dirty="0"/>
          </a:p>
        </p:txBody>
      </p:sp>
      <p:sp>
        <p:nvSpPr>
          <p:cNvPr id="16" name="Shape 10"/>
          <p:cNvSpPr/>
          <p:nvPr/>
        </p:nvSpPr>
        <p:spPr>
          <a:xfrm>
            <a:off x="502920" y="3685032"/>
            <a:ext cx="8138160" cy="566928"/>
          </a:xfrm>
          <a:prstGeom prst="roundRect">
            <a:avLst>
              <a:gd name="adj" fmla="val 14516"/>
            </a:avLst>
          </a:prstGeom>
          <a:solidFill>
            <a:srgbClr val="F4F8FA"/>
          </a:solidFill>
          <a:ln/>
          <a:effectLst>
            <a:outerShdw blurRad="76200" dist="25400" dir="54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7" name="Shape 11"/>
          <p:cNvSpPr/>
          <p:nvPr/>
        </p:nvSpPr>
        <p:spPr>
          <a:xfrm>
            <a:off x="685800" y="3794760"/>
            <a:ext cx="347472" cy="347472"/>
          </a:xfrm>
          <a:prstGeom prst="ellipse">
            <a:avLst/>
          </a:prstGeom>
          <a:solidFill>
            <a:srgbClr val="0A3D62"/>
          </a:solidFill>
          <a:ln/>
          <a:effectLst>
            <a:outerShdw blurRad="63500" dist="25400" dir="5400000" algn="bl" rotWithShape="0">
              <a:srgbClr val="000000">
                <a:alpha val="18000"/>
              </a:srgbClr>
            </a:outerShdw>
          </a:effectLst>
        </p:spPr>
      </p:sp>
      <p:pic>
        <p:nvPicPr>
          <p:cNvPr id="18" name="Image 4" descr="icons/FaCheckCircle_FFFFF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6143" y="3885103"/>
            <a:ext cx="166787" cy="166787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1234440" y="3685032"/>
            <a:ext cx="7178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C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a complete 12-step preprocessing pipeline for the data</a:t>
            </a:r>
            <a:endParaRPr lang="en-US" sz="1300" dirty="0"/>
          </a:p>
        </p:txBody>
      </p:sp>
      <p:sp>
        <p:nvSpPr>
          <p:cNvPr id="20" name="Shape 13"/>
          <p:cNvSpPr/>
          <p:nvPr/>
        </p:nvSpPr>
        <p:spPr>
          <a:xfrm>
            <a:off x="502920" y="4379976"/>
            <a:ext cx="8138160" cy="566928"/>
          </a:xfrm>
          <a:prstGeom prst="roundRect">
            <a:avLst>
              <a:gd name="adj" fmla="val 14516"/>
            </a:avLst>
          </a:prstGeom>
          <a:solidFill>
            <a:srgbClr val="F4F8FA"/>
          </a:solidFill>
          <a:ln/>
          <a:effectLst>
            <a:outerShdw blurRad="76200" dist="25400" dir="5400000" algn="bl" rotWithShape="0">
              <a:srgbClr val="000000">
                <a:alpha val="15000"/>
              </a:srgbClr>
            </a:outerShdw>
          </a:effectLst>
        </p:spPr>
      </p:sp>
      <p:sp>
        <p:nvSpPr>
          <p:cNvPr id="21" name="Shape 14"/>
          <p:cNvSpPr/>
          <p:nvPr/>
        </p:nvSpPr>
        <p:spPr>
          <a:xfrm>
            <a:off x="685800" y="4489704"/>
            <a:ext cx="347472" cy="347472"/>
          </a:xfrm>
          <a:prstGeom prst="ellipse">
            <a:avLst/>
          </a:prstGeom>
          <a:solidFill>
            <a:srgbClr val="0A3D62"/>
          </a:solidFill>
          <a:ln/>
          <a:effectLst>
            <a:outerShdw blurRad="63500" dist="25400" dir="5400000" algn="bl" rotWithShape="0">
              <a:srgbClr val="000000">
                <a:alpha val="18000"/>
              </a:srgbClr>
            </a:outerShdw>
          </a:effectLst>
        </p:spPr>
      </p:sp>
      <p:pic>
        <p:nvPicPr>
          <p:cNvPr id="22" name="Image 5" descr="icons/FaCheckCircle_FFFFF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6143" y="4580047"/>
            <a:ext cx="166787" cy="166787"/>
          </a:xfrm>
          <a:prstGeom prst="rect">
            <a:avLst/>
          </a:prstGeom>
        </p:spPr>
      </p:pic>
      <p:sp>
        <p:nvSpPr>
          <p:cNvPr id="23" name="Text 15"/>
          <p:cNvSpPr/>
          <p:nvPr/>
        </p:nvSpPr>
        <p:spPr>
          <a:xfrm>
            <a:off x="1234440" y="4379976"/>
            <a:ext cx="7178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C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Delivered a 7-page interactive threat analytics dashboard suite</a:t>
            </a:r>
            <a:endParaRPr lang="en-US" sz="13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bg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640080" y="1417320"/>
            <a:ext cx="7863840" cy="2651760"/>
          </a:xfrm>
          <a:prstGeom prst="roundRect">
            <a:avLst>
              <a:gd name="adj" fmla="val 4138"/>
            </a:avLst>
          </a:prstGeom>
          <a:solidFill>
            <a:srgbClr val="FFFFFF">
              <a:alpha val="94000"/>
            </a:srgbClr>
          </a:solidFill>
          <a:ln/>
          <a:effectLst>
            <a:outerShdw blurRad="76200" dist="25400" dir="5400000" algn="bl" rotWithShape="0">
              <a:srgbClr val="000000">
                <a:alpha val="15000"/>
              </a:srgbClr>
            </a:outerShdw>
          </a:effectLst>
        </p:spPr>
      </p:sp>
      <p:sp>
        <p:nvSpPr>
          <p:cNvPr id="4" name="Shape 1"/>
          <p:cNvSpPr/>
          <p:nvPr/>
        </p:nvSpPr>
        <p:spPr>
          <a:xfrm>
            <a:off x="4160520" y="1737360"/>
            <a:ext cx="822960" cy="822960"/>
          </a:xfrm>
          <a:prstGeom prst="ellipse">
            <a:avLst/>
          </a:prstGeom>
          <a:solidFill>
            <a:srgbClr val="0A3D62"/>
          </a:solidFill>
          <a:ln/>
          <a:effectLst>
            <a:outerShdw blurRad="63500" dist="25400" dir="5400000" algn="bl" rotWithShape="0">
              <a:srgbClr val="000000">
                <a:alpha val="18000"/>
              </a:srgbClr>
            </a:outerShdw>
          </a:effectLst>
        </p:spPr>
      </p:sp>
      <p:pic>
        <p:nvPicPr>
          <p:cNvPr id="5" name="Image 1" descr="icons/FaShieldAlt_FFFFF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74490" y="1951330"/>
            <a:ext cx="395021" cy="395021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914400" y="274320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0A3D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3000" dirty="0"/>
          </a:p>
        </p:txBody>
      </p:sp>
      <p:sp>
        <p:nvSpPr>
          <p:cNvPr id="7" name="Shape 3"/>
          <p:cNvSpPr/>
          <p:nvPr/>
        </p:nvSpPr>
        <p:spPr>
          <a:xfrm>
            <a:off x="3017520" y="3364992"/>
            <a:ext cx="3108960" cy="0"/>
          </a:xfrm>
          <a:prstGeom prst="line">
            <a:avLst/>
          </a:prstGeom>
          <a:noFill/>
          <a:ln w="19050">
            <a:solidFill>
              <a:srgbClr val="2AB7CA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1097280" y="3474720"/>
            <a:ext cx="6949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3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xmlns="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</TotalTime>
  <Words>729</Words>
  <Application>Microsoft Office PowerPoint</Application>
  <PresentationFormat>On-screen Show (16:9)</PresentationFormat>
  <Paragraphs>162</Paragraphs>
  <Slides>17</Slides>
  <Notes>17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18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HARINI THANGAVEL</cp:lastModifiedBy>
  <cp:revision>4</cp:revision>
  <dcterms:created xsi:type="dcterms:W3CDTF">2026-08-12T04:42:45Z</dcterms:created>
  <dcterms:modified xsi:type="dcterms:W3CDTF">2026-08-12T11:09:40Z</dcterms:modified>
</cp:coreProperties>
</file>